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732520" y="-457200"/>
            <a:ext cx="3383280" cy="3383280"/>
          </a:xfrm>
          <a:prstGeom prst="ellipse">
            <a:avLst/>
          </a:prstGeom>
          <a:solidFill>
            <a:srgbClr val="EC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960120"/>
            <a:ext cx="2011680" cy="320040"/>
          </a:xfrm>
          <a:prstGeom prst="rect">
            <a:avLst/>
          </a:prstGeom>
          <a:noFill/>
        </p:spPr>
        <p:txBody>
          <a:bodyPr wrap="square" lIns="36576" rIns="36576" tIns="36576" bIns="36576" anchor="t">
            <a:spAutoFit/>
          </a:bodyPr>
          <a:lstStyle/>
          <a:p>
            <a:pPr algn="l">
              <a:defRPr sz="1400" b="1">
                <a:solidFill>
                  <a:srgbClr val="238F97"/>
                </a:solidFill>
                <a:latin typeface="Aptos"/>
              </a:defRPr>
            </a:pPr>
            <a:r>
              <a:t>DOCUMENT</a:t>
            </a:r>
          </a:p>
        </p:txBody>
      </p:sp>
      <p:sp>
        <p:nvSpPr>
          <p:cNvPr id="6" name="TextBox 5"/>
          <p:cNvSpPr txBox="1"/>
          <p:nvPr/>
        </p:nvSpPr>
        <p:spPr>
          <a:xfrm>
            <a:off x="822960" y="1417320"/>
            <a:ext cx="4572000" cy="777240"/>
          </a:xfrm>
          <a:prstGeom prst="rect">
            <a:avLst/>
          </a:prstGeom>
          <a:noFill/>
        </p:spPr>
        <p:txBody>
          <a:bodyPr wrap="square" lIns="36576" rIns="36576" tIns="36576" bIns="36576" anchor="t">
            <a:spAutoFit/>
          </a:bodyPr>
          <a:lstStyle/>
          <a:p>
            <a:pPr algn="l">
              <a:defRPr sz="4200" b="1">
                <a:solidFill>
                  <a:srgbClr val="14263F"/>
                </a:solidFill>
                <a:latin typeface="Aptos"/>
              </a:defRPr>
            </a:pPr>
            <a:r>
              <a:t>SRS</a:t>
            </a:r>
          </a:p>
        </p:txBody>
      </p:sp>
      <p:sp>
        <p:nvSpPr>
          <p:cNvPr id="7" name="TextBox 6"/>
          <p:cNvSpPr txBox="1"/>
          <p:nvPr/>
        </p:nvSpPr>
        <p:spPr>
          <a:xfrm>
            <a:off x="822960" y="2240280"/>
            <a:ext cx="5669280" cy="502920"/>
          </a:xfrm>
          <a:prstGeom prst="rect">
            <a:avLst/>
          </a:prstGeom>
          <a:noFill/>
        </p:spPr>
        <p:txBody>
          <a:bodyPr wrap="square" lIns="36576" rIns="36576" tIns="36576" bIns="36576" anchor="t">
            <a:spAutoFit/>
          </a:bodyPr>
          <a:lstStyle/>
          <a:p>
            <a:pPr algn="l">
              <a:defRPr sz="2300" b="1">
                <a:solidFill>
                  <a:srgbClr val="2165AC"/>
                </a:solidFill>
                <a:latin typeface="Aptos"/>
              </a:defRPr>
            </a:pPr>
            <a:r>
              <a:t>NeuroForge SDLC Platform</a:t>
            </a:r>
          </a:p>
        </p:txBody>
      </p:sp>
      <p:sp>
        <p:nvSpPr>
          <p:cNvPr id="8" name="TextBox 7"/>
          <p:cNvSpPr txBox="1"/>
          <p:nvPr/>
        </p:nvSpPr>
        <p:spPr>
          <a:xfrm>
            <a:off x="822960" y="4709160"/>
            <a:ext cx="2011680" cy="274320"/>
          </a:xfrm>
          <a:prstGeom prst="rect">
            <a:avLst/>
          </a:prstGeom>
          <a:noFill/>
        </p:spPr>
        <p:txBody>
          <a:bodyPr wrap="square" lIns="36576" rIns="36576" tIns="36576" bIns="36576" anchor="t">
            <a:spAutoFit/>
          </a:bodyPr>
          <a:lstStyle/>
          <a:p>
            <a:pPr algn="l">
              <a:defRPr sz="1100" b="1">
                <a:solidFill>
                  <a:srgbClr val="647180"/>
                </a:solidFill>
                <a:latin typeface="Aptos"/>
              </a:defRPr>
            </a:pPr>
            <a:r>
              <a:t>PRESENTED BY :</a:t>
            </a:r>
          </a:p>
        </p:txBody>
      </p:sp>
      <p:sp>
        <p:nvSpPr>
          <p:cNvPr id="9" name="TextBox 8"/>
          <p:cNvSpPr txBox="1"/>
          <p:nvPr/>
        </p:nvSpPr>
        <p:spPr>
          <a:xfrm>
            <a:off x="822960" y="5029200"/>
            <a:ext cx="4572000" cy="365760"/>
          </a:xfrm>
          <a:prstGeom prst="rect">
            <a:avLst/>
          </a:prstGeom>
          <a:noFill/>
        </p:spPr>
        <p:txBody>
          <a:bodyPr wrap="square" lIns="36576" rIns="36576" tIns="36576" bIns="36576" anchor="t">
            <a:spAutoFit/>
          </a:bodyPr>
          <a:lstStyle/>
          <a:p>
            <a:pPr algn="l">
              <a:defRPr sz="2000" b="1">
                <a:solidFill>
                  <a:srgbClr val="14263F"/>
                </a:solidFill>
                <a:latin typeface="Aptos"/>
              </a:defRPr>
            </a:pPr>
            <a:r>
              <a:t>Mannuru Prethika</a:t>
            </a:r>
          </a:p>
        </p:txBody>
      </p:sp>
      <p:sp>
        <p:nvSpPr>
          <p:cNvPr id="10" name="TextBox 9"/>
          <p:cNvSpPr txBox="1"/>
          <p:nvPr/>
        </p:nvSpPr>
        <p:spPr>
          <a:xfrm>
            <a:off x="822960" y="5577840"/>
            <a:ext cx="2286000" cy="274320"/>
          </a:xfrm>
          <a:prstGeom prst="rect">
            <a:avLst/>
          </a:prstGeom>
          <a:noFill/>
        </p:spPr>
        <p:txBody>
          <a:bodyPr wrap="square" lIns="36576" rIns="36576" tIns="36576" bIns="36576" anchor="t">
            <a:spAutoFit/>
          </a:bodyPr>
          <a:lstStyle/>
          <a:p>
            <a:pPr algn="l">
              <a:defRPr sz="1100" b="0">
                <a:solidFill>
                  <a:srgbClr val="647180"/>
                </a:solidFill>
                <a:latin typeface="Aptos"/>
              </a:defRPr>
            </a:pPr>
            <a:r>
              <a:t>July 29, 2026</a:t>
            </a:r>
          </a:p>
        </p:txBody>
      </p:sp>
      <p:sp>
        <p:nvSpPr>
          <p:cNvPr id="11" name="TextBox 10"/>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01 /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INTRODUCTION</a:t>
            </a:r>
          </a:p>
        </p:txBody>
      </p:sp>
      <p:sp>
        <p:nvSpPr>
          <p:cNvPr id="5" name="Rounded Rectangle 4"/>
          <p:cNvSpPr/>
          <p:nvPr/>
        </p:nvSpPr>
        <p:spPr>
          <a:xfrm>
            <a:off x="685800" y="1325880"/>
            <a:ext cx="10835640" cy="48006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64008" cy="48006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444752"/>
            <a:ext cx="10579608" cy="384048"/>
          </a:xfrm>
          <a:prstGeom prst="rect">
            <a:avLst/>
          </a:prstGeom>
          <a:noFill/>
        </p:spPr>
        <p:txBody>
          <a:bodyPr wrap="square" lIns="36576" rIns="36576" tIns="36576" bIns="36576" anchor="t">
            <a:spAutoFit/>
          </a:bodyPr>
          <a:lstStyle/>
          <a:p>
            <a:pPr algn="l">
              <a:defRPr sz="1600" b="1">
                <a:solidFill>
                  <a:srgbClr val="14263F"/>
                </a:solidFill>
                <a:latin typeface="Aptos"/>
              </a:defRPr>
            </a:pPr>
            <a:r>
              <a:t>Purpose &amp; Scope</a:t>
            </a:r>
          </a:p>
        </p:txBody>
      </p:sp>
      <p:sp>
        <p:nvSpPr>
          <p:cNvPr id="8" name="TextBox 7"/>
          <p:cNvSpPr txBox="1"/>
          <p:nvPr/>
        </p:nvSpPr>
        <p:spPr>
          <a:xfrm>
            <a:off x="850392" y="1856232"/>
            <a:ext cx="10561320" cy="4178808"/>
          </a:xfrm>
          <a:prstGeom prst="rect">
            <a:avLst/>
          </a:prstGeom>
          <a:noFill/>
        </p:spPr>
        <p:txBody>
          <a:bodyPr wrap="square" lIns="36576" rIns="36576" tIns="36576" bIns="36576" anchor="t">
            <a:spAutoFit/>
          </a:bodyPr>
          <a:lstStyle/>
          <a:p>
            <a:pPr algn="l">
              <a:defRPr sz="1300" b="0">
                <a:solidFill>
                  <a:srgbClr val="2D3A48"/>
                </a:solidFill>
                <a:latin typeface="Aptos"/>
              </a:defRPr>
            </a:pPr>
            <a:r>
              <a:t>Purpose</a:t>
            </a:r>
            <a:br/>
            <a:r>
              <a:t>NeuroForge Enterprise SDLC Platform is an AI-powered software development platform designed to streamline and manage the entire Software Development Life Cycle (SDLC) within a single, integrated environment. Its primary purpose is to improve collaboration among project managers, business analysts, developers, testers, DevOps engineers, and stakeholders by providing a centralized workspace. The platform automates repetitive tasks such as requirement analysis, code generation, testing, documentation, and deployment using Artificial Intelligence, enabling organizations to develop high-quality, secure, and scalable software faster while reducing development costs and improving overall productivity.</a:t>
            </a:r>
            <a:br/>
            <a:br/>
            <a:r>
              <a:t>Scope</a:t>
            </a:r>
            <a:br/>
            <a:r>
              <a:t>The scope of NeuroForge covers all phases of the Software Development Life Cycle, including requirement gathering, system design, development, testing, deployment, monitoring, and maintenance. It provides project planning, task management, Git-based version control, AI-assisted coding, automated testing, CI/CD pipelines, cloud deployment, and real-time monitoring within a unified platform. NeuroForge also integrates with popular DevOps tools and cloud services, offering live dashboards, analytics, reporting, and performance monitoring to help organizations efficiently manage software projects from initial planning to long-term maintenance.</a:t>
            </a:r>
          </a:p>
        </p:txBody>
      </p:sp>
      <p:sp>
        <p:nvSpPr>
          <p:cNvPr id="9" name="TextBox 8"/>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USER TYPES</a:t>
            </a:r>
          </a:p>
        </p:txBody>
      </p:sp>
      <p:sp>
        <p:nvSpPr>
          <p:cNvPr id="5" name="Rounded Rectangle 4"/>
          <p:cNvSpPr/>
          <p:nvPr/>
        </p:nvSpPr>
        <p:spPr>
          <a:xfrm>
            <a:off x="658368" y="123444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23444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5331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1. System Administrator</a:t>
            </a:r>
          </a:p>
        </p:txBody>
      </p:sp>
      <p:sp>
        <p:nvSpPr>
          <p:cNvPr id="8" name="TextBox 7"/>
          <p:cNvSpPr txBox="1"/>
          <p:nvPr/>
        </p:nvSpPr>
        <p:spPr>
          <a:xfrm>
            <a:off x="822960" y="176479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Manages the platform by creating user accounts, assigning roles and permissions, configuring system settings, maintaining security, and monitoring overall system .</a:t>
            </a:r>
          </a:p>
        </p:txBody>
      </p:sp>
      <p:sp>
        <p:nvSpPr>
          <p:cNvPr id="9" name="Rounded Rectangle 8"/>
          <p:cNvSpPr/>
          <p:nvPr/>
        </p:nvSpPr>
        <p:spPr>
          <a:xfrm>
            <a:off x="4334255" y="123444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5" y="1234440"/>
            <a:ext cx="64008" cy="141732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7" y="135331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2. Project Manager</a:t>
            </a:r>
          </a:p>
        </p:txBody>
      </p:sp>
      <p:sp>
        <p:nvSpPr>
          <p:cNvPr id="12" name="TextBox 11"/>
          <p:cNvSpPr txBox="1"/>
          <p:nvPr/>
        </p:nvSpPr>
        <p:spPr>
          <a:xfrm>
            <a:off x="4498847" y="176479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Plans and manages software projects by creating schedules, assigning tasks, tracking progress, managing resources, and ensuring projects are completed on time.</a:t>
            </a:r>
          </a:p>
        </p:txBody>
      </p:sp>
      <p:sp>
        <p:nvSpPr>
          <p:cNvPr id="13" name="Rounded Rectangle 12"/>
          <p:cNvSpPr/>
          <p:nvPr/>
        </p:nvSpPr>
        <p:spPr>
          <a:xfrm>
            <a:off x="8010143" y="123444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10143" y="1234440"/>
            <a:ext cx="64008" cy="141732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5" y="135331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3. Business Analyst</a:t>
            </a:r>
          </a:p>
        </p:txBody>
      </p:sp>
      <p:sp>
        <p:nvSpPr>
          <p:cNvPr id="16" name="TextBox 15"/>
          <p:cNvSpPr txBox="1"/>
          <p:nvPr/>
        </p:nvSpPr>
        <p:spPr>
          <a:xfrm>
            <a:off x="8174735" y="176479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Collects and analyzes business requirements from clients and stakeholders, prepares requirement documents, and ensures that the software meets business objectives.</a:t>
            </a:r>
          </a:p>
        </p:txBody>
      </p:sp>
      <p:sp>
        <p:nvSpPr>
          <p:cNvPr id="17" name="Rounded Rectangle 16"/>
          <p:cNvSpPr/>
          <p:nvPr/>
        </p:nvSpPr>
        <p:spPr>
          <a:xfrm>
            <a:off x="658368" y="292608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92608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04495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4. Product Owner</a:t>
            </a:r>
          </a:p>
        </p:txBody>
      </p:sp>
      <p:sp>
        <p:nvSpPr>
          <p:cNvPr id="20" name="TextBox 19"/>
          <p:cNvSpPr txBox="1"/>
          <p:nvPr/>
        </p:nvSpPr>
        <p:spPr>
          <a:xfrm>
            <a:off x="822960" y="345643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Defines the product vision, prioritizes features in the product backlog, approves requirements, and ensures the final product delivers maximum value to customers.</a:t>
            </a:r>
          </a:p>
        </p:txBody>
      </p:sp>
      <p:sp>
        <p:nvSpPr>
          <p:cNvPr id="21" name="Rounded Rectangle 20"/>
          <p:cNvSpPr/>
          <p:nvPr/>
        </p:nvSpPr>
        <p:spPr>
          <a:xfrm>
            <a:off x="4334255" y="292608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34255" y="2926080"/>
            <a:ext cx="64008" cy="141732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7" y="304495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5. Software Architect</a:t>
            </a:r>
          </a:p>
        </p:txBody>
      </p:sp>
      <p:sp>
        <p:nvSpPr>
          <p:cNvPr id="24" name="TextBox 23"/>
          <p:cNvSpPr txBox="1"/>
          <p:nvPr/>
        </p:nvSpPr>
        <p:spPr>
          <a:xfrm>
            <a:off x="4498847" y="345643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Designs the overall system architecture, selects appropriate technologies, defines coding standards, and ensures the software is scalable, secure, and maintainable.</a:t>
            </a:r>
          </a:p>
        </p:txBody>
      </p:sp>
      <p:sp>
        <p:nvSpPr>
          <p:cNvPr id="25" name="Rounded Rectangle 24"/>
          <p:cNvSpPr/>
          <p:nvPr/>
        </p:nvSpPr>
        <p:spPr>
          <a:xfrm>
            <a:off x="8010143" y="292608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10143" y="2926080"/>
            <a:ext cx="64008" cy="141732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74735" y="304495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6. Developer</a:t>
            </a:r>
          </a:p>
        </p:txBody>
      </p:sp>
      <p:sp>
        <p:nvSpPr>
          <p:cNvPr id="28" name="TextBox 27"/>
          <p:cNvSpPr txBox="1"/>
          <p:nvPr/>
        </p:nvSpPr>
        <p:spPr>
          <a:xfrm>
            <a:off x="8174735" y="345643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Develops application features, writes and reviews code, fixes bugs, integrates APIs, and uses AI-assisted tools to improve coding efficiency and software quality.</a:t>
            </a:r>
          </a:p>
        </p:txBody>
      </p:sp>
      <p:sp>
        <p:nvSpPr>
          <p:cNvPr id="29" name="Rounded Rectangle 28"/>
          <p:cNvSpPr/>
          <p:nvPr/>
        </p:nvSpPr>
        <p:spPr>
          <a:xfrm>
            <a:off x="658368" y="461772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461772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73659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7. QA / Test Engineer</a:t>
            </a:r>
          </a:p>
        </p:txBody>
      </p:sp>
      <p:sp>
        <p:nvSpPr>
          <p:cNvPr id="32" name="TextBox 31"/>
          <p:cNvSpPr txBox="1"/>
          <p:nvPr/>
        </p:nvSpPr>
        <p:spPr>
          <a:xfrm>
            <a:off x="822960" y="514807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Creates test cases, performs manual and automated testing, identifies defects, verifies bug fixes, and ensures the software meets quality and performance standards.</a:t>
            </a:r>
          </a:p>
        </p:txBody>
      </p:sp>
      <p:sp>
        <p:nvSpPr>
          <p:cNvPr id="33" name="Rounded Rectangle 32"/>
          <p:cNvSpPr/>
          <p:nvPr/>
        </p:nvSpPr>
        <p:spPr>
          <a:xfrm>
            <a:off x="4334255" y="461772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34255" y="4617720"/>
            <a:ext cx="64008" cy="141732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8847" y="473659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8. DevOps Engineer</a:t>
            </a:r>
          </a:p>
        </p:txBody>
      </p:sp>
      <p:sp>
        <p:nvSpPr>
          <p:cNvPr id="36" name="TextBox 35"/>
          <p:cNvSpPr txBox="1"/>
          <p:nvPr/>
        </p:nvSpPr>
        <p:spPr>
          <a:xfrm>
            <a:off x="4498847" y="514807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Manages CI/CD pipelines, automates software builds and deployments, monitors infrastructure, and ensures smooth integration between development and operations.</a:t>
            </a:r>
          </a:p>
        </p:txBody>
      </p:sp>
      <p:sp>
        <p:nvSpPr>
          <p:cNvPr id="37" name="Rounded Rectangle 36"/>
          <p:cNvSpPr/>
          <p:nvPr/>
        </p:nvSpPr>
        <p:spPr>
          <a:xfrm>
            <a:off x="8010143" y="4617720"/>
            <a:ext cx="34290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10143" y="4617720"/>
            <a:ext cx="64008" cy="141732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74735" y="4736592"/>
            <a:ext cx="317296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9. Client/Stakeholder</a:t>
            </a:r>
          </a:p>
        </p:txBody>
      </p:sp>
      <p:sp>
        <p:nvSpPr>
          <p:cNvPr id="40" name="TextBox 39"/>
          <p:cNvSpPr txBox="1"/>
          <p:nvPr/>
        </p:nvSpPr>
        <p:spPr>
          <a:xfrm>
            <a:off x="8174735" y="5148072"/>
            <a:ext cx="3154680" cy="795528"/>
          </a:xfrm>
          <a:prstGeom prst="rect">
            <a:avLst/>
          </a:prstGeom>
          <a:noFill/>
        </p:spPr>
        <p:txBody>
          <a:bodyPr wrap="square" lIns="36576" rIns="36576" tIns="36576" bIns="36576" anchor="t">
            <a:spAutoFit/>
          </a:bodyPr>
          <a:lstStyle/>
          <a:p>
            <a:pPr algn="l">
              <a:defRPr sz="1000" b="0">
                <a:solidFill>
                  <a:srgbClr val="2D3A48"/>
                </a:solidFill>
                <a:latin typeface="Aptos"/>
              </a:defRPr>
            </a:pPr>
            <a:r>
              <a:t>Reviews project progress through dashboards, provides feedback, approves deliverables, and ensures the developed software satisfies business requirements.</a:t>
            </a:r>
          </a:p>
        </p:txBody>
      </p:sp>
      <p:sp>
        <p:nvSpPr>
          <p:cNvPr id="41" name="TextBox 40"/>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FUNCTIONAL REQUIREMENTS</a:t>
            </a:r>
          </a:p>
        </p:txBody>
      </p:sp>
      <p:sp>
        <p:nvSpPr>
          <p:cNvPr id="5" name="Rounded Rectangle 4"/>
          <p:cNvSpPr/>
          <p:nvPr/>
        </p:nvSpPr>
        <p:spPr>
          <a:xfrm>
            <a:off x="658368" y="1234440"/>
            <a:ext cx="539496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234440"/>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53312"/>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1. User Authentication and Role-Based Access Control</a:t>
            </a:r>
          </a:p>
        </p:txBody>
      </p:sp>
      <p:sp>
        <p:nvSpPr>
          <p:cNvPr id="8" name="TextBox 7"/>
          <p:cNvSpPr txBox="1"/>
          <p:nvPr/>
        </p:nvSpPr>
        <p:spPr>
          <a:xfrm>
            <a:off x="822960" y="1764792"/>
            <a:ext cx="5120640" cy="292608"/>
          </a:xfrm>
          <a:prstGeom prst="rect">
            <a:avLst/>
          </a:prstGeom>
          <a:noFill/>
        </p:spPr>
        <p:txBody>
          <a:bodyPr wrap="square" lIns="36576" rIns="36576" tIns="36576" bIns="36576" anchor="t">
            <a:spAutoFit/>
          </a:bodyPr>
          <a:lstStyle/>
          <a:p>
            <a:pPr algn="l">
              <a:defRPr sz="950" b="0">
                <a:solidFill>
                  <a:srgbClr val="2D3A48"/>
                </a:solidFill>
                <a:latin typeface="Aptos"/>
              </a:defRPr>
            </a:pPr>
            <a:r>
              <a:t>The system shall provide secure user registration and login with authentication mechanisms. It shall assign role-based permissions (Administrator, Manager, Developer, Tester, etc.) to ensure users access only authorized modules and data.</a:t>
            </a:r>
          </a:p>
        </p:txBody>
      </p:sp>
      <p:sp>
        <p:nvSpPr>
          <p:cNvPr id="9" name="Rounded Rectangle 8"/>
          <p:cNvSpPr/>
          <p:nvPr/>
        </p:nvSpPr>
        <p:spPr>
          <a:xfrm>
            <a:off x="658368" y="2258568"/>
            <a:ext cx="539496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258568"/>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77440"/>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2. Requirement Gathering and Project Planning</a:t>
            </a:r>
          </a:p>
        </p:txBody>
      </p:sp>
      <p:sp>
        <p:nvSpPr>
          <p:cNvPr id="12" name="TextBox 11"/>
          <p:cNvSpPr txBox="1"/>
          <p:nvPr/>
        </p:nvSpPr>
        <p:spPr>
          <a:xfrm>
            <a:off x="822960" y="2788920"/>
            <a:ext cx="5120640" cy="292608"/>
          </a:xfrm>
          <a:prstGeom prst="rect">
            <a:avLst/>
          </a:prstGeom>
          <a:noFill/>
        </p:spPr>
        <p:txBody>
          <a:bodyPr wrap="square" lIns="36576" rIns="36576" tIns="36576" bIns="36576" anchor="t">
            <a:spAutoFit/>
          </a:bodyPr>
          <a:lstStyle/>
          <a:p>
            <a:pPr algn="l">
              <a:defRPr sz="950" b="0">
                <a:solidFill>
                  <a:srgbClr val="2D3A48"/>
                </a:solidFill>
                <a:latin typeface="Aptos"/>
              </a:defRPr>
            </a:pPr>
            <a:r>
              <a:t>The platform shall allow business analysts and project managers to create, manage, prioritize, and track project requirements. It shall also support project planning, milestone creation, sprint planning, and resource allocation.</a:t>
            </a:r>
          </a:p>
        </p:txBody>
      </p:sp>
      <p:sp>
        <p:nvSpPr>
          <p:cNvPr id="13" name="Rounded Rectangle 12"/>
          <p:cNvSpPr/>
          <p:nvPr/>
        </p:nvSpPr>
        <p:spPr>
          <a:xfrm>
            <a:off x="658368" y="3282696"/>
            <a:ext cx="539496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282696"/>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401568"/>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3. Task Assignment and Sprint Management</a:t>
            </a:r>
          </a:p>
        </p:txBody>
      </p:sp>
      <p:sp>
        <p:nvSpPr>
          <p:cNvPr id="16" name="TextBox 15"/>
          <p:cNvSpPr txBox="1"/>
          <p:nvPr/>
        </p:nvSpPr>
        <p:spPr>
          <a:xfrm>
            <a:off x="822960" y="3813048"/>
            <a:ext cx="5120640" cy="292608"/>
          </a:xfrm>
          <a:prstGeom prst="rect">
            <a:avLst/>
          </a:prstGeom>
          <a:noFill/>
        </p:spPr>
        <p:txBody>
          <a:bodyPr wrap="square" lIns="36576" rIns="36576" tIns="36576" bIns="36576" anchor="t">
            <a:spAutoFit/>
          </a:bodyPr>
          <a:lstStyle/>
          <a:p>
            <a:pPr algn="l">
              <a:defRPr sz="950" b="0">
                <a:solidFill>
                  <a:srgbClr val="2D3A48"/>
                </a:solidFill>
                <a:latin typeface="Aptos"/>
              </a:defRPr>
            </a:pPr>
            <a:r>
              <a:t>The system shall enable managers to assign tasks to team members, define deadlines, monitor task status, and manage Agile sprints using Scrum or Kanban boards.</a:t>
            </a:r>
          </a:p>
        </p:txBody>
      </p:sp>
      <p:sp>
        <p:nvSpPr>
          <p:cNvPr id="17" name="Rounded Rectangle 16"/>
          <p:cNvSpPr/>
          <p:nvPr/>
        </p:nvSpPr>
        <p:spPr>
          <a:xfrm>
            <a:off x="658368" y="4306824"/>
            <a:ext cx="539496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306824"/>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425696"/>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4. AI-Assisted Code Generation and Documentation</a:t>
            </a:r>
          </a:p>
        </p:txBody>
      </p:sp>
      <p:sp>
        <p:nvSpPr>
          <p:cNvPr id="20" name="TextBox 19"/>
          <p:cNvSpPr txBox="1"/>
          <p:nvPr/>
        </p:nvSpPr>
        <p:spPr>
          <a:xfrm>
            <a:off x="822960" y="4837176"/>
            <a:ext cx="5120640" cy="292608"/>
          </a:xfrm>
          <a:prstGeom prst="rect">
            <a:avLst/>
          </a:prstGeom>
          <a:noFill/>
        </p:spPr>
        <p:txBody>
          <a:bodyPr wrap="square" lIns="36576" rIns="36576" tIns="36576" bIns="36576" anchor="t">
            <a:spAutoFit/>
          </a:bodyPr>
          <a:lstStyle/>
          <a:p>
            <a:pPr algn="l">
              <a:defRPr sz="950" b="0">
                <a:solidFill>
                  <a:srgbClr val="2D3A48"/>
                </a:solidFill>
                <a:latin typeface="Aptos"/>
              </a:defRPr>
            </a:pPr>
            <a:r>
              <a:t>The platform shall use Artificial Intelligence to generate code snippets, recommend solutions, create technical documentation, and assist developers in writing efficient and standardized code.</a:t>
            </a:r>
          </a:p>
        </p:txBody>
      </p:sp>
      <p:sp>
        <p:nvSpPr>
          <p:cNvPr id="21" name="Rounded Rectangle 20"/>
          <p:cNvSpPr/>
          <p:nvPr/>
        </p:nvSpPr>
        <p:spPr>
          <a:xfrm>
            <a:off x="658368" y="5330952"/>
            <a:ext cx="539496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5330952"/>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449824"/>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5. Git Integration and Version Control</a:t>
            </a:r>
          </a:p>
        </p:txBody>
      </p:sp>
      <p:sp>
        <p:nvSpPr>
          <p:cNvPr id="24" name="TextBox 23"/>
          <p:cNvSpPr txBox="1"/>
          <p:nvPr/>
        </p:nvSpPr>
        <p:spPr>
          <a:xfrm>
            <a:off x="822960" y="5861304"/>
            <a:ext cx="5120640" cy="292608"/>
          </a:xfrm>
          <a:prstGeom prst="rect">
            <a:avLst/>
          </a:prstGeom>
          <a:noFill/>
        </p:spPr>
        <p:txBody>
          <a:bodyPr wrap="square" lIns="36576" rIns="36576" tIns="36576" bIns="36576" anchor="t">
            <a:spAutoFit/>
          </a:bodyPr>
          <a:lstStyle/>
          <a:p>
            <a:pPr algn="l">
              <a:defRPr sz="950" b="0">
                <a:solidFill>
                  <a:srgbClr val="2D3A48"/>
                </a:solidFill>
                <a:latin typeface="Aptos"/>
              </a:defRPr>
            </a:pPr>
            <a:r>
              <a:t>The system shall integrate with Git repositories to support source code management, branch creation, version tracking, pull requests, merge operations, and code reviews.</a:t>
            </a:r>
          </a:p>
        </p:txBody>
      </p:sp>
      <p:sp>
        <p:nvSpPr>
          <p:cNvPr id="25" name="Rounded Rectangle 24"/>
          <p:cNvSpPr/>
          <p:nvPr/>
        </p:nvSpPr>
        <p:spPr>
          <a:xfrm>
            <a:off x="6144768" y="1234440"/>
            <a:ext cx="5394960" cy="11430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44768" y="1234440"/>
            <a:ext cx="64008" cy="11430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1353312"/>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6. Automated Testing and Bug Tracking</a:t>
            </a:r>
          </a:p>
        </p:txBody>
      </p:sp>
      <p:sp>
        <p:nvSpPr>
          <p:cNvPr id="28" name="TextBox 27"/>
          <p:cNvSpPr txBox="1"/>
          <p:nvPr/>
        </p:nvSpPr>
        <p:spPr>
          <a:xfrm>
            <a:off x="6309360" y="1764792"/>
            <a:ext cx="5120640" cy="521208"/>
          </a:xfrm>
          <a:prstGeom prst="rect">
            <a:avLst/>
          </a:prstGeom>
          <a:noFill/>
        </p:spPr>
        <p:txBody>
          <a:bodyPr wrap="square" lIns="36576" rIns="36576" tIns="36576" bIns="36576" anchor="t">
            <a:spAutoFit/>
          </a:bodyPr>
          <a:lstStyle/>
          <a:p>
            <a:pPr algn="l">
              <a:defRPr sz="950" b="0">
                <a:solidFill>
                  <a:srgbClr val="2D3A48"/>
                </a:solidFill>
                <a:latin typeface="Aptos"/>
              </a:defRPr>
            </a:pPr>
            <a:r>
              <a:t>The platform shall support automated testing, execute test cases, identify software defects, generate test reports, and provide a centralized bug tracking system for issue management.</a:t>
            </a:r>
          </a:p>
        </p:txBody>
      </p:sp>
      <p:sp>
        <p:nvSpPr>
          <p:cNvPr id="29" name="Rounded Rectangle 28"/>
          <p:cNvSpPr/>
          <p:nvPr/>
        </p:nvSpPr>
        <p:spPr>
          <a:xfrm>
            <a:off x="6144768" y="2514600"/>
            <a:ext cx="5394960" cy="11430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44768" y="2514600"/>
            <a:ext cx="64008" cy="11430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633472"/>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7. CI/CD Pipeline for Build and Deployment</a:t>
            </a:r>
          </a:p>
        </p:txBody>
      </p:sp>
      <p:sp>
        <p:nvSpPr>
          <p:cNvPr id="32" name="TextBox 31"/>
          <p:cNvSpPr txBox="1"/>
          <p:nvPr/>
        </p:nvSpPr>
        <p:spPr>
          <a:xfrm>
            <a:off x="6309360" y="3044952"/>
            <a:ext cx="5120640" cy="521208"/>
          </a:xfrm>
          <a:prstGeom prst="rect">
            <a:avLst/>
          </a:prstGeom>
          <a:noFill/>
        </p:spPr>
        <p:txBody>
          <a:bodyPr wrap="square" lIns="36576" rIns="36576" tIns="36576" bIns="36576" anchor="t">
            <a:spAutoFit/>
          </a:bodyPr>
          <a:lstStyle/>
          <a:p>
            <a:pPr algn="l">
              <a:defRPr sz="950" b="0">
                <a:solidFill>
                  <a:srgbClr val="2D3A48"/>
                </a:solidFill>
                <a:latin typeface="Aptos"/>
              </a:defRPr>
            </a:pPr>
            <a:r>
              <a:t>The system shall automate software building, testing, and deployment through Continuous Integration and Continuous Deployment (CI/CD) pipelines, ensuring faster and more reliable software releases.</a:t>
            </a:r>
          </a:p>
        </p:txBody>
      </p:sp>
      <p:sp>
        <p:nvSpPr>
          <p:cNvPr id="33" name="Rounded Rectangle 32"/>
          <p:cNvSpPr/>
          <p:nvPr/>
        </p:nvSpPr>
        <p:spPr>
          <a:xfrm>
            <a:off x="6144768" y="3794760"/>
            <a:ext cx="5394960" cy="11430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44768" y="3794760"/>
            <a:ext cx="64008" cy="11430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3913632"/>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8. Real-Time Dashboards, Reports, and Project Analytics</a:t>
            </a:r>
          </a:p>
        </p:txBody>
      </p:sp>
      <p:sp>
        <p:nvSpPr>
          <p:cNvPr id="36" name="TextBox 35"/>
          <p:cNvSpPr txBox="1"/>
          <p:nvPr/>
        </p:nvSpPr>
        <p:spPr>
          <a:xfrm>
            <a:off x="6309360" y="4325112"/>
            <a:ext cx="5120640" cy="521208"/>
          </a:xfrm>
          <a:prstGeom prst="rect">
            <a:avLst/>
          </a:prstGeom>
          <a:noFill/>
        </p:spPr>
        <p:txBody>
          <a:bodyPr wrap="square" lIns="36576" rIns="36576" tIns="36576" bIns="36576" anchor="t">
            <a:spAutoFit/>
          </a:bodyPr>
          <a:lstStyle/>
          <a:p>
            <a:pPr algn="l">
              <a:defRPr sz="950" b="0">
                <a:solidFill>
                  <a:srgbClr val="2D3A48"/>
                </a:solidFill>
                <a:latin typeface="Aptos"/>
              </a:defRPr>
            </a:pPr>
            <a:r>
              <a:t>The platform shall provide interactive dashboards displaying project progress, sprint status, team productivity, bug statistics, deployment history, and performance reports for informed decision-making.</a:t>
            </a:r>
          </a:p>
        </p:txBody>
      </p:sp>
      <p:sp>
        <p:nvSpPr>
          <p:cNvPr id="37" name="Rounded Rectangle 36"/>
          <p:cNvSpPr/>
          <p:nvPr/>
        </p:nvSpPr>
        <p:spPr>
          <a:xfrm>
            <a:off x="6144768" y="5074919"/>
            <a:ext cx="5394960" cy="11430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44768" y="5074919"/>
            <a:ext cx="64008" cy="11430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5193791"/>
            <a:ext cx="5138928" cy="384048"/>
          </a:xfrm>
          <a:prstGeom prst="rect">
            <a:avLst/>
          </a:prstGeom>
          <a:noFill/>
        </p:spPr>
        <p:txBody>
          <a:bodyPr wrap="square" lIns="36576" rIns="36576" tIns="36576" bIns="36576" anchor="t">
            <a:spAutoFit/>
          </a:bodyPr>
          <a:lstStyle/>
          <a:p>
            <a:pPr algn="l">
              <a:defRPr sz="1220" b="1">
                <a:solidFill>
                  <a:srgbClr val="14263F"/>
                </a:solidFill>
                <a:latin typeface="Aptos"/>
              </a:defRPr>
            </a:pPr>
            <a:r>
              <a:t>9. Performance Monitoring and Maintenance Support</a:t>
            </a:r>
          </a:p>
        </p:txBody>
      </p:sp>
      <p:sp>
        <p:nvSpPr>
          <p:cNvPr id="40" name="TextBox 39"/>
          <p:cNvSpPr txBox="1"/>
          <p:nvPr/>
        </p:nvSpPr>
        <p:spPr>
          <a:xfrm>
            <a:off x="6309360" y="5605271"/>
            <a:ext cx="5120640" cy="521208"/>
          </a:xfrm>
          <a:prstGeom prst="rect">
            <a:avLst/>
          </a:prstGeom>
          <a:noFill/>
        </p:spPr>
        <p:txBody>
          <a:bodyPr wrap="square" lIns="36576" rIns="36576" tIns="36576" bIns="36576" anchor="t">
            <a:spAutoFit/>
          </a:bodyPr>
          <a:lstStyle/>
          <a:p>
            <a:pPr algn="l">
              <a:defRPr sz="950" b="0">
                <a:solidFill>
                  <a:srgbClr val="2D3A48"/>
                </a:solidFill>
                <a:latin typeface="Aptos"/>
              </a:defRPr>
            </a:pPr>
            <a:r>
              <a:t>The system shall continuously monitor application performance, server health, resource utilization, and system logs. It shall support issue detection, maintenance activities, software updates, and long-term system reliability.</a:t>
            </a:r>
          </a:p>
        </p:txBody>
      </p:sp>
      <p:sp>
        <p:nvSpPr>
          <p:cNvPr id="41" name="TextBox 40"/>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NON-FUNCTIONAL REQUIREMENTS</a:t>
            </a:r>
          </a:p>
        </p:txBody>
      </p:sp>
      <p:sp>
        <p:nvSpPr>
          <p:cNvPr id="5" name="Rounded Rectangle 4"/>
          <p:cNvSpPr/>
          <p:nvPr/>
        </p:nvSpPr>
        <p:spPr>
          <a:xfrm>
            <a:off x="685800" y="1234440"/>
            <a:ext cx="10835640" cy="82296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64008" cy="82296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353312"/>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1. Performance</a:t>
            </a:r>
          </a:p>
        </p:txBody>
      </p:sp>
      <p:sp>
        <p:nvSpPr>
          <p:cNvPr id="8" name="TextBox 7"/>
          <p:cNvSpPr txBox="1"/>
          <p:nvPr/>
        </p:nvSpPr>
        <p:spPr>
          <a:xfrm>
            <a:off x="850392" y="1764792"/>
            <a:ext cx="10561320" cy="201168"/>
          </a:xfrm>
          <a:prstGeom prst="rect">
            <a:avLst/>
          </a:prstGeom>
          <a:noFill/>
        </p:spPr>
        <p:txBody>
          <a:bodyPr wrap="square" lIns="36576" rIns="36576" tIns="36576" bIns="36576" anchor="t">
            <a:spAutoFit/>
          </a:bodyPr>
          <a:lstStyle/>
          <a:p>
            <a:pPr algn="l">
              <a:defRPr sz="1050" b="0">
                <a:solidFill>
                  <a:srgbClr val="2D3A48"/>
                </a:solidFill>
                <a:latin typeface="Aptos"/>
              </a:defRPr>
            </a:pPr>
            <a:r>
              <a:t>The platform shall provide fast response times and efficient processing while supporting multiple concurrent users without affecting system performance. It should ensure smooth operation even under high workloads.</a:t>
            </a:r>
          </a:p>
        </p:txBody>
      </p:sp>
      <p:sp>
        <p:nvSpPr>
          <p:cNvPr id="9" name="Rounded Rectangle 8"/>
          <p:cNvSpPr/>
          <p:nvPr/>
        </p:nvSpPr>
        <p:spPr>
          <a:xfrm>
            <a:off x="685800" y="2194560"/>
            <a:ext cx="10835640" cy="82296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194560"/>
            <a:ext cx="64008" cy="82296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313432"/>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2. Security</a:t>
            </a:r>
          </a:p>
        </p:txBody>
      </p:sp>
      <p:sp>
        <p:nvSpPr>
          <p:cNvPr id="12" name="TextBox 11"/>
          <p:cNvSpPr txBox="1"/>
          <p:nvPr/>
        </p:nvSpPr>
        <p:spPr>
          <a:xfrm>
            <a:off x="850392" y="2724912"/>
            <a:ext cx="10561320" cy="201168"/>
          </a:xfrm>
          <a:prstGeom prst="rect">
            <a:avLst/>
          </a:prstGeom>
          <a:noFill/>
        </p:spPr>
        <p:txBody>
          <a:bodyPr wrap="square" lIns="36576" rIns="36576" tIns="36576" bIns="36576" anchor="t">
            <a:spAutoFit/>
          </a:bodyPr>
          <a:lstStyle/>
          <a:p>
            <a:pPr algn="l">
              <a:defRPr sz="1050" b="0">
                <a:solidFill>
                  <a:srgbClr val="2D3A48"/>
                </a:solidFill>
                <a:latin typeface="Aptos"/>
              </a:defRPr>
            </a:pPr>
            <a:r>
              <a:t>The system shall implement secure user authentication, data encryption, role-based access control, and audit logs to protect sensitive information and prevent unauthorized access.</a:t>
            </a:r>
          </a:p>
        </p:txBody>
      </p:sp>
      <p:sp>
        <p:nvSpPr>
          <p:cNvPr id="13" name="Rounded Rectangle 12"/>
          <p:cNvSpPr/>
          <p:nvPr/>
        </p:nvSpPr>
        <p:spPr>
          <a:xfrm>
            <a:off x="685800" y="3154680"/>
            <a:ext cx="10835640" cy="82296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3154680"/>
            <a:ext cx="64008" cy="82296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273552"/>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3. Scalability</a:t>
            </a:r>
          </a:p>
        </p:txBody>
      </p:sp>
      <p:sp>
        <p:nvSpPr>
          <p:cNvPr id="16" name="TextBox 15"/>
          <p:cNvSpPr txBox="1"/>
          <p:nvPr/>
        </p:nvSpPr>
        <p:spPr>
          <a:xfrm>
            <a:off x="850392" y="3685032"/>
            <a:ext cx="10561320" cy="201168"/>
          </a:xfrm>
          <a:prstGeom prst="rect">
            <a:avLst/>
          </a:prstGeom>
          <a:noFill/>
        </p:spPr>
        <p:txBody>
          <a:bodyPr wrap="square" lIns="36576" rIns="36576" tIns="36576" bIns="36576" anchor="t">
            <a:spAutoFit/>
          </a:bodyPr>
          <a:lstStyle/>
          <a:p>
            <a:pPr algn="l">
              <a:defRPr sz="1050" b="0">
                <a:solidFill>
                  <a:srgbClr val="2D3A48"/>
                </a:solidFill>
                <a:latin typeface="Aptos"/>
              </a:defRPr>
            </a:pPr>
            <a:r>
              <a:t>The platform shall be capable of handling projects of different sizes and support horizontal scaling through cloud infrastructure, allowing it to accommodate growing users, data, and workloads.</a:t>
            </a:r>
          </a:p>
        </p:txBody>
      </p:sp>
      <p:sp>
        <p:nvSpPr>
          <p:cNvPr id="17" name="Rounded Rectangle 16"/>
          <p:cNvSpPr/>
          <p:nvPr/>
        </p:nvSpPr>
        <p:spPr>
          <a:xfrm>
            <a:off x="685800" y="4114800"/>
            <a:ext cx="10835640" cy="82296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114800"/>
            <a:ext cx="64008" cy="82296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233672"/>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4. Reliability</a:t>
            </a:r>
          </a:p>
        </p:txBody>
      </p:sp>
      <p:sp>
        <p:nvSpPr>
          <p:cNvPr id="20" name="TextBox 19"/>
          <p:cNvSpPr txBox="1"/>
          <p:nvPr/>
        </p:nvSpPr>
        <p:spPr>
          <a:xfrm>
            <a:off x="850392" y="4645152"/>
            <a:ext cx="10561320" cy="201168"/>
          </a:xfrm>
          <a:prstGeom prst="rect">
            <a:avLst/>
          </a:prstGeom>
          <a:noFill/>
        </p:spPr>
        <p:txBody>
          <a:bodyPr wrap="square" lIns="36576" rIns="36576" tIns="36576" bIns="36576" anchor="t">
            <a:spAutoFit/>
          </a:bodyPr>
          <a:lstStyle/>
          <a:p>
            <a:pPr algn="l">
              <a:defRPr sz="1050" b="0">
                <a:solidFill>
                  <a:srgbClr val="2D3A48"/>
                </a:solidFill>
                <a:latin typeface="Aptos"/>
              </a:defRPr>
            </a:pPr>
            <a:r>
              <a:t>The system shall ensure high availability with minimal downtime by providing automatic backup, disaster recovery, fault tolerance, and reliable data recovery mechanisms.</a:t>
            </a:r>
          </a:p>
        </p:txBody>
      </p:sp>
      <p:sp>
        <p:nvSpPr>
          <p:cNvPr id="21" name="Rounded Rectangle 20"/>
          <p:cNvSpPr/>
          <p:nvPr/>
        </p:nvSpPr>
        <p:spPr>
          <a:xfrm>
            <a:off x="685800" y="5074920"/>
            <a:ext cx="10835640" cy="82296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5074920"/>
            <a:ext cx="64008" cy="82296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5193792"/>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5. Usability</a:t>
            </a:r>
          </a:p>
        </p:txBody>
      </p:sp>
      <p:sp>
        <p:nvSpPr>
          <p:cNvPr id="24" name="TextBox 23"/>
          <p:cNvSpPr txBox="1"/>
          <p:nvPr/>
        </p:nvSpPr>
        <p:spPr>
          <a:xfrm>
            <a:off x="850392" y="5605272"/>
            <a:ext cx="10561320" cy="201168"/>
          </a:xfrm>
          <a:prstGeom prst="rect">
            <a:avLst/>
          </a:prstGeom>
          <a:noFill/>
        </p:spPr>
        <p:txBody>
          <a:bodyPr wrap="square" lIns="36576" rIns="36576" tIns="36576" bIns="36576" anchor="t">
            <a:spAutoFit/>
          </a:bodyPr>
          <a:lstStyle/>
          <a:p>
            <a:pPr algn="l">
              <a:defRPr sz="1050" b="0">
                <a:solidFill>
                  <a:srgbClr val="2D3A48"/>
                </a:solidFill>
                <a:latin typeface="Aptos"/>
              </a:defRPr>
            </a:pPr>
            <a:r>
              <a:t>The platform shall provide a user-friendly, intuitive, and responsive interface that is easy to navigate and accessible across desktops, tablets, and mobile devices, ensuring a consistent user experience.</a:t>
            </a:r>
          </a:p>
        </p:txBody>
      </p:sp>
      <p:sp>
        <p:nvSpPr>
          <p:cNvPr id="25" name="TextBox 24"/>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TECHNOLOGY STACK</a:t>
            </a:r>
          </a:p>
        </p:txBody>
      </p:sp>
      <p:sp>
        <p:nvSpPr>
          <p:cNvPr id="5" name="Rounded Rectangle 4"/>
          <p:cNvSpPr/>
          <p:nvPr/>
        </p:nvSpPr>
        <p:spPr>
          <a:xfrm>
            <a:off x="685800" y="1325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444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Frontend</a:t>
            </a:r>
          </a:p>
        </p:txBody>
      </p:sp>
      <p:sp>
        <p:nvSpPr>
          <p:cNvPr id="8" name="TextBox 7"/>
          <p:cNvSpPr txBox="1"/>
          <p:nvPr/>
        </p:nvSpPr>
        <p:spPr>
          <a:xfrm>
            <a:off x="850392" y="1856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React.js / Angular</a:t>
            </a:r>
          </a:p>
        </p:txBody>
      </p:sp>
      <p:sp>
        <p:nvSpPr>
          <p:cNvPr id="9" name="Rounded Rectangle 8"/>
          <p:cNvSpPr/>
          <p:nvPr/>
        </p:nvSpPr>
        <p:spPr>
          <a:xfrm>
            <a:off x="6172200" y="1325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325880"/>
            <a:ext cx="64008" cy="91440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444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Backend</a:t>
            </a:r>
          </a:p>
        </p:txBody>
      </p:sp>
      <p:sp>
        <p:nvSpPr>
          <p:cNvPr id="12" name="TextBox 11"/>
          <p:cNvSpPr txBox="1"/>
          <p:nvPr/>
        </p:nvSpPr>
        <p:spPr>
          <a:xfrm>
            <a:off x="6336792" y="1856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Spring Boot / Node.js</a:t>
            </a:r>
          </a:p>
        </p:txBody>
      </p:sp>
      <p:sp>
        <p:nvSpPr>
          <p:cNvPr id="13" name="Rounded Rectangle 12"/>
          <p:cNvSpPr/>
          <p:nvPr/>
        </p:nvSpPr>
        <p:spPr>
          <a:xfrm>
            <a:off x="685800" y="2468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468880"/>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2587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Database</a:t>
            </a:r>
          </a:p>
        </p:txBody>
      </p:sp>
      <p:sp>
        <p:nvSpPr>
          <p:cNvPr id="16" name="TextBox 15"/>
          <p:cNvSpPr txBox="1"/>
          <p:nvPr/>
        </p:nvSpPr>
        <p:spPr>
          <a:xfrm>
            <a:off x="850392" y="2999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PostgreSQL / MongoDB</a:t>
            </a:r>
          </a:p>
        </p:txBody>
      </p:sp>
      <p:sp>
        <p:nvSpPr>
          <p:cNvPr id="17" name="Rounded Rectangle 16"/>
          <p:cNvSpPr/>
          <p:nvPr/>
        </p:nvSpPr>
        <p:spPr>
          <a:xfrm>
            <a:off x="6172200" y="2468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2468880"/>
            <a:ext cx="64008" cy="91440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2587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Version Control</a:t>
            </a:r>
          </a:p>
        </p:txBody>
      </p:sp>
      <p:sp>
        <p:nvSpPr>
          <p:cNvPr id="20" name="TextBox 19"/>
          <p:cNvSpPr txBox="1"/>
          <p:nvPr/>
        </p:nvSpPr>
        <p:spPr>
          <a:xfrm>
            <a:off x="6336792" y="2999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Git, GitHub/GitLab</a:t>
            </a:r>
          </a:p>
        </p:txBody>
      </p:sp>
      <p:sp>
        <p:nvSpPr>
          <p:cNvPr id="21" name="Rounded Rectangle 20"/>
          <p:cNvSpPr/>
          <p:nvPr/>
        </p:nvSpPr>
        <p:spPr>
          <a:xfrm>
            <a:off x="685800" y="3611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611880"/>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3730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DevOps</a:t>
            </a:r>
          </a:p>
        </p:txBody>
      </p:sp>
      <p:sp>
        <p:nvSpPr>
          <p:cNvPr id="24" name="TextBox 23"/>
          <p:cNvSpPr txBox="1"/>
          <p:nvPr/>
        </p:nvSpPr>
        <p:spPr>
          <a:xfrm>
            <a:off x="850392" y="4142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Jenkins, Docker, Kubernetes</a:t>
            </a:r>
          </a:p>
        </p:txBody>
      </p:sp>
      <p:sp>
        <p:nvSpPr>
          <p:cNvPr id="25" name="Rounded Rectangle 24"/>
          <p:cNvSpPr/>
          <p:nvPr/>
        </p:nvSpPr>
        <p:spPr>
          <a:xfrm>
            <a:off x="6172200" y="3611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3611880"/>
            <a:ext cx="64008" cy="91440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3730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Cloud</a:t>
            </a:r>
          </a:p>
        </p:txBody>
      </p:sp>
      <p:sp>
        <p:nvSpPr>
          <p:cNvPr id="28" name="TextBox 27"/>
          <p:cNvSpPr txBox="1"/>
          <p:nvPr/>
        </p:nvSpPr>
        <p:spPr>
          <a:xfrm>
            <a:off x="6336792" y="4142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AWS, Azure, Google Cloud</a:t>
            </a:r>
          </a:p>
        </p:txBody>
      </p:sp>
      <p:sp>
        <p:nvSpPr>
          <p:cNvPr id="29" name="Rounded Rectangle 28"/>
          <p:cNvSpPr/>
          <p:nvPr/>
        </p:nvSpPr>
        <p:spPr>
          <a:xfrm>
            <a:off x="685800" y="4754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754880"/>
            <a:ext cx="64008" cy="914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 y="4873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AI</a:t>
            </a:r>
          </a:p>
        </p:txBody>
      </p:sp>
      <p:sp>
        <p:nvSpPr>
          <p:cNvPr id="32" name="TextBox 31"/>
          <p:cNvSpPr txBox="1"/>
          <p:nvPr/>
        </p:nvSpPr>
        <p:spPr>
          <a:xfrm>
            <a:off x="850392" y="5285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OpenAI API, TensorFlow/PyTorch</a:t>
            </a:r>
          </a:p>
        </p:txBody>
      </p:sp>
      <p:sp>
        <p:nvSpPr>
          <p:cNvPr id="33" name="Rounded Rectangle 32"/>
          <p:cNvSpPr/>
          <p:nvPr/>
        </p:nvSpPr>
        <p:spPr>
          <a:xfrm>
            <a:off x="6172200" y="4754880"/>
            <a:ext cx="5212080" cy="914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2200" y="4754880"/>
            <a:ext cx="64008" cy="91440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36792" y="4873752"/>
            <a:ext cx="495604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Monitoring</a:t>
            </a:r>
          </a:p>
        </p:txBody>
      </p:sp>
      <p:sp>
        <p:nvSpPr>
          <p:cNvPr id="36" name="TextBox 35"/>
          <p:cNvSpPr txBox="1"/>
          <p:nvPr/>
        </p:nvSpPr>
        <p:spPr>
          <a:xfrm>
            <a:off x="6336792" y="5285232"/>
            <a:ext cx="4937760" cy="292608"/>
          </a:xfrm>
          <a:prstGeom prst="rect">
            <a:avLst/>
          </a:prstGeom>
          <a:noFill/>
        </p:spPr>
        <p:txBody>
          <a:bodyPr wrap="square" lIns="36576" rIns="36576" tIns="36576" bIns="36576" anchor="t">
            <a:spAutoFit/>
          </a:bodyPr>
          <a:lstStyle/>
          <a:p>
            <a:pPr algn="l">
              <a:defRPr sz="1400" b="0">
                <a:solidFill>
                  <a:srgbClr val="2D3A48"/>
                </a:solidFill>
                <a:latin typeface="Aptos"/>
              </a:defRPr>
            </a:pPr>
            <a:r>
              <a:t>Prometheus, Grafana</a:t>
            </a:r>
          </a:p>
        </p:txBody>
      </p:sp>
      <p:sp>
        <p:nvSpPr>
          <p:cNvPr id="37" name="TextBox 36"/>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EXPECTED OUTCOMES</a:t>
            </a:r>
          </a:p>
        </p:txBody>
      </p:sp>
      <p:sp>
        <p:nvSpPr>
          <p:cNvPr id="5" name="Rounded Rectangle 4"/>
          <p:cNvSpPr/>
          <p:nvPr/>
        </p:nvSpPr>
        <p:spPr>
          <a:xfrm>
            <a:off x="685800" y="1234440"/>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64008" cy="8686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353312"/>
            <a:ext cx="10579608" cy="384048"/>
          </a:xfrm>
          <a:prstGeom prst="rect">
            <a:avLst/>
          </a:prstGeom>
          <a:noFill/>
        </p:spPr>
        <p:txBody>
          <a:bodyPr wrap="square" lIns="36576" rIns="36576" tIns="36576" bIns="36576" anchor="t">
            <a:spAutoFit/>
          </a:bodyPr>
          <a:lstStyle/>
          <a:p>
            <a:pPr algn="l">
              <a:defRPr sz="1250" b="1">
                <a:solidFill>
                  <a:srgbClr val="14263F"/>
                </a:solidFill>
                <a:latin typeface="Aptos"/>
              </a:defRPr>
            </a:pPr>
            <a:r>
              <a:t>1. Faster Software Development and Deployment</a:t>
            </a:r>
          </a:p>
        </p:txBody>
      </p:sp>
      <p:sp>
        <p:nvSpPr>
          <p:cNvPr id="8" name="TextBox 7"/>
          <p:cNvSpPr txBox="1"/>
          <p:nvPr/>
        </p:nvSpPr>
        <p:spPr>
          <a:xfrm>
            <a:off x="850392" y="1764792"/>
            <a:ext cx="10561320" cy="246888"/>
          </a:xfrm>
          <a:prstGeom prst="rect">
            <a:avLst/>
          </a:prstGeom>
          <a:noFill/>
        </p:spPr>
        <p:txBody>
          <a:bodyPr wrap="square" lIns="36576" rIns="36576" tIns="36576" bIns="36576" anchor="t">
            <a:spAutoFit/>
          </a:bodyPr>
          <a:lstStyle/>
          <a:p>
            <a:pPr algn="l">
              <a:defRPr sz="1019" b="0">
                <a:solidFill>
                  <a:srgbClr val="2D3A48"/>
                </a:solidFill>
                <a:latin typeface="Aptos"/>
              </a:defRPr>
            </a:pPr>
            <a:r>
              <a:t>The platform will streamline the entire SDLC through AI-powered automation and CI/CD pipelines, reducing development time and enabling faster, more reliable software releases.</a:t>
            </a:r>
          </a:p>
        </p:txBody>
      </p:sp>
      <p:sp>
        <p:nvSpPr>
          <p:cNvPr id="9" name="Rounded Rectangle 8"/>
          <p:cNvSpPr/>
          <p:nvPr/>
        </p:nvSpPr>
        <p:spPr>
          <a:xfrm>
            <a:off x="685800" y="2221992"/>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221992"/>
            <a:ext cx="64008" cy="8686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340864"/>
            <a:ext cx="10579608" cy="384048"/>
          </a:xfrm>
          <a:prstGeom prst="rect">
            <a:avLst/>
          </a:prstGeom>
          <a:noFill/>
        </p:spPr>
        <p:txBody>
          <a:bodyPr wrap="square" lIns="36576" rIns="36576" tIns="36576" bIns="36576" anchor="t">
            <a:spAutoFit/>
          </a:bodyPr>
          <a:lstStyle/>
          <a:p>
            <a:pPr algn="l">
              <a:defRPr sz="1250" b="1">
                <a:solidFill>
                  <a:srgbClr val="14263F"/>
                </a:solidFill>
                <a:latin typeface="Aptos"/>
              </a:defRPr>
            </a:pPr>
            <a:r>
              <a:t>2. Improved Collaboration Across Development Teams</a:t>
            </a:r>
          </a:p>
        </p:txBody>
      </p:sp>
      <p:sp>
        <p:nvSpPr>
          <p:cNvPr id="12" name="TextBox 11"/>
          <p:cNvSpPr txBox="1"/>
          <p:nvPr/>
        </p:nvSpPr>
        <p:spPr>
          <a:xfrm>
            <a:off x="850392" y="2752344"/>
            <a:ext cx="10561320" cy="246888"/>
          </a:xfrm>
          <a:prstGeom prst="rect">
            <a:avLst/>
          </a:prstGeom>
          <a:noFill/>
        </p:spPr>
        <p:txBody>
          <a:bodyPr wrap="square" lIns="36576" rIns="36576" tIns="36576" bIns="36576" anchor="t">
            <a:spAutoFit/>
          </a:bodyPr>
          <a:lstStyle/>
          <a:p>
            <a:pPr algn="l">
              <a:defRPr sz="1019" b="0">
                <a:solidFill>
                  <a:srgbClr val="2D3A48"/>
                </a:solidFill>
                <a:latin typeface="Aptos"/>
              </a:defRPr>
            </a:pPr>
            <a:r>
              <a:t>By providing a centralized workspace, NeuroForge will enhance communication and coordination among project managers, developers, testers, DevOps engineers, and stakeholders.</a:t>
            </a:r>
          </a:p>
        </p:txBody>
      </p:sp>
      <p:sp>
        <p:nvSpPr>
          <p:cNvPr id="13" name="Rounded Rectangle 12"/>
          <p:cNvSpPr/>
          <p:nvPr/>
        </p:nvSpPr>
        <p:spPr>
          <a:xfrm>
            <a:off x="685800" y="3209544"/>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3209544"/>
            <a:ext cx="64008" cy="86868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328416"/>
            <a:ext cx="10579608" cy="384048"/>
          </a:xfrm>
          <a:prstGeom prst="rect">
            <a:avLst/>
          </a:prstGeom>
          <a:noFill/>
        </p:spPr>
        <p:txBody>
          <a:bodyPr wrap="square" lIns="36576" rIns="36576" tIns="36576" bIns="36576" anchor="t">
            <a:spAutoFit/>
          </a:bodyPr>
          <a:lstStyle/>
          <a:p>
            <a:pPr algn="l">
              <a:defRPr sz="1250" b="1">
                <a:solidFill>
                  <a:srgbClr val="14263F"/>
                </a:solidFill>
                <a:latin typeface="Aptos"/>
              </a:defRPr>
            </a:pPr>
            <a:r>
              <a:t>3. Reduced Manual Effort Through AI-Driven Automation</a:t>
            </a:r>
          </a:p>
        </p:txBody>
      </p:sp>
      <p:sp>
        <p:nvSpPr>
          <p:cNvPr id="16" name="TextBox 15"/>
          <p:cNvSpPr txBox="1"/>
          <p:nvPr/>
        </p:nvSpPr>
        <p:spPr>
          <a:xfrm>
            <a:off x="850392" y="3739896"/>
            <a:ext cx="10561320" cy="246888"/>
          </a:xfrm>
          <a:prstGeom prst="rect">
            <a:avLst/>
          </a:prstGeom>
          <a:noFill/>
        </p:spPr>
        <p:txBody>
          <a:bodyPr wrap="square" lIns="36576" rIns="36576" tIns="36576" bIns="36576" anchor="t">
            <a:spAutoFit/>
          </a:bodyPr>
          <a:lstStyle/>
          <a:p>
            <a:pPr algn="l">
              <a:defRPr sz="1019" b="0">
                <a:solidFill>
                  <a:srgbClr val="2D3A48"/>
                </a:solidFill>
                <a:latin typeface="Aptos"/>
              </a:defRPr>
            </a:pPr>
            <a:r>
              <a:t>AI will automate repetitive tasks such as requirement analysis, code generation, documentation, testing, and deployment, allowing teams to focus on innovation and problem-solving.</a:t>
            </a:r>
          </a:p>
        </p:txBody>
      </p:sp>
      <p:sp>
        <p:nvSpPr>
          <p:cNvPr id="17" name="Rounded Rectangle 16"/>
          <p:cNvSpPr/>
          <p:nvPr/>
        </p:nvSpPr>
        <p:spPr>
          <a:xfrm>
            <a:off x="685800" y="4197096"/>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197096"/>
            <a:ext cx="64008" cy="8686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 y="4315968"/>
            <a:ext cx="10579608" cy="384048"/>
          </a:xfrm>
          <a:prstGeom prst="rect">
            <a:avLst/>
          </a:prstGeom>
          <a:noFill/>
        </p:spPr>
        <p:txBody>
          <a:bodyPr wrap="square" lIns="36576" rIns="36576" tIns="36576" bIns="36576" anchor="t">
            <a:spAutoFit/>
          </a:bodyPr>
          <a:lstStyle/>
          <a:p>
            <a:pPr algn="l">
              <a:defRPr sz="1250" b="1">
                <a:solidFill>
                  <a:srgbClr val="14263F"/>
                </a:solidFill>
                <a:latin typeface="Aptos"/>
              </a:defRPr>
            </a:pPr>
            <a:r>
              <a:t>4. Higher Software Quality with Automated Testing and Code Reviews</a:t>
            </a:r>
          </a:p>
        </p:txBody>
      </p:sp>
      <p:sp>
        <p:nvSpPr>
          <p:cNvPr id="20" name="TextBox 19"/>
          <p:cNvSpPr txBox="1"/>
          <p:nvPr/>
        </p:nvSpPr>
        <p:spPr>
          <a:xfrm>
            <a:off x="850392" y="4727448"/>
            <a:ext cx="10561320" cy="246888"/>
          </a:xfrm>
          <a:prstGeom prst="rect">
            <a:avLst/>
          </a:prstGeom>
          <a:noFill/>
        </p:spPr>
        <p:txBody>
          <a:bodyPr wrap="square" lIns="36576" rIns="36576" tIns="36576" bIns="36576" anchor="t">
            <a:spAutoFit/>
          </a:bodyPr>
          <a:lstStyle/>
          <a:p>
            <a:pPr algn="l">
              <a:defRPr sz="1019" b="0">
                <a:solidFill>
                  <a:srgbClr val="2D3A48"/>
                </a:solidFill>
                <a:latin typeface="Aptos"/>
              </a:defRPr>
            </a:pPr>
            <a:r>
              <a:t>The platform will improve software reliability by performing continuous code analysis, automated testing, and early detection of bugs and security vulnerabilities.</a:t>
            </a:r>
          </a:p>
        </p:txBody>
      </p:sp>
      <p:sp>
        <p:nvSpPr>
          <p:cNvPr id="21" name="Rounded Rectangle 20"/>
          <p:cNvSpPr/>
          <p:nvPr/>
        </p:nvSpPr>
        <p:spPr>
          <a:xfrm>
            <a:off x="685800" y="5184648"/>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5184648"/>
            <a:ext cx="64008" cy="8686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5303520"/>
            <a:ext cx="10579608" cy="384048"/>
          </a:xfrm>
          <a:prstGeom prst="rect">
            <a:avLst/>
          </a:prstGeom>
          <a:noFill/>
        </p:spPr>
        <p:txBody>
          <a:bodyPr wrap="square" lIns="36576" rIns="36576" tIns="36576" bIns="36576" anchor="t">
            <a:spAutoFit/>
          </a:bodyPr>
          <a:lstStyle/>
          <a:p>
            <a:pPr algn="l">
              <a:defRPr sz="1250" b="1">
                <a:solidFill>
                  <a:srgbClr val="14263F"/>
                </a:solidFill>
                <a:latin typeface="Aptos"/>
              </a:defRPr>
            </a:pPr>
            <a:r>
              <a:t>5. Better Project Visibility Using Real-Time Dashboards and Analytics</a:t>
            </a:r>
          </a:p>
        </p:txBody>
      </p:sp>
      <p:sp>
        <p:nvSpPr>
          <p:cNvPr id="24" name="TextBox 23"/>
          <p:cNvSpPr txBox="1"/>
          <p:nvPr/>
        </p:nvSpPr>
        <p:spPr>
          <a:xfrm>
            <a:off x="850392" y="5715000"/>
            <a:ext cx="10561320" cy="246888"/>
          </a:xfrm>
          <a:prstGeom prst="rect">
            <a:avLst/>
          </a:prstGeom>
          <a:noFill/>
        </p:spPr>
        <p:txBody>
          <a:bodyPr wrap="square" lIns="36576" rIns="36576" tIns="36576" bIns="36576" anchor="t">
            <a:spAutoFit/>
          </a:bodyPr>
          <a:lstStyle/>
          <a:p>
            <a:pPr algn="l">
              <a:defRPr sz="1019" b="0">
                <a:solidFill>
                  <a:srgbClr val="2D3A48"/>
                </a:solidFill>
                <a:latin typeface="Aptos"/>
              </a:defRPr>
            </a:pPr>
            <a:r>
              <a:t>Interactive dashboards and detailed reports will provide real-time insights into project progress, team productivity, sprint status, and software performance, enabling informed decision-making.</a:t>
            </a:r>
          </a:p>
        </p:txBody>
      </p:sp>
      <p:sp>
        <p:nvSpPr>
          <p:cNvPr id="25" name="TextBox 24"/>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0332720" cy="594360"/>
          </a:xfrm>
          <a:prstGeom prst="rect">
            <a:avLst/>
          </a:prstGeom>
          <a:noFill/>
        </p:spPr>
        <p:txBody>
          <a:bodyPr wrap="square" lIns="36576" rIns="36576" tIns="36576" bIns="36576" anchor="t">
            <a:spAutoFit/>
          </a:bodyPr>
          <a:lstStyle/>
          <a:p>
            <a:pPr algn="ctr">
              <a:defRPr sz="4200" b="1">
                <a:solidFill>
                  <a:srgbClr val="14263F"/>
                </a:solidFill>
                <a:latin typeface="Aptos"/>
              </a:defRPr>
            </a:pPr>
            <a:r>
              <a:t>THANK YOU</a:t>
            </a:r>
          </a:p>
        </p:txBody>
      </p:sp>
      <p:sp>
        <p:nvSpPr>
          <p:cNvPr id="5" name="TextBox 4"/>
          <p:cNvSpPr txBox="1"/>
          <p:nvPr/>
        </p:nvSpPr>
        <p:spPr>
          <a:xfrm>
            <a:off x="914400" y="3063240"/>
            <a:ext cx="10332720" cy="320040"/>
          </a:xfrm>
          <a:prstGeom prst="rect">
            <a:avLst/>
          </a:prstGeom>
          <a:noFill/>
        </p:spPr>
        <p:txBody>
          <a:bodyPr wrap="square" lIns="36576" rIns="36576" tIns="36576" bIns="36576" anchor="t">
            <a:spAutoFit/>
          </a:bodyPr>
          <a:lstStyle/>
          <a:p>
            <a:pPr algn="ctr">
              <a:defRPr sz="1400" b="1">
                <a:solidFill>
                  <a:srgbClr val="238F97"/>
                </a:solidFill>
                <a:latin typeface="Aptos"/>
              </a:defRPr>
            </a:pPr>
            <a:r>
              <a:t>Mannuru Prethika  •  July 29, 2026</a:t>
            </a:r>
          </a:p>
        </p:txBody>
      </p:sp>
      <p:sp>
        <p:nvSpPr>
          <p:cNvPr id="6" name="TextBox 5"/>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