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p:scale>
          <a:sx n="75" d="100"/>
          <a:sy n="75" d="100"/>
        </p:scale>
        <p:origin x="1134"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endParaRPr 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14701" y="2400301"/>
            <a:ext cx="7378700" cy="1716242"/>
          </a:xfrm>
        </p:spPr>
        <p:txBody>
          <a:bodyPr>
            <a:normAutofit/>
          </a:bodyPr>
          <a:lstStyle/>
          <a:p>
            <a:r>
              <a:rPr lang="en-IN" sz="4800" b="1" dirty="0" err="1">
                <a:latin typeface="Arial" panose="020B0604020202020204" pitchFamily="34" charset="0"/>
                <a:cs typeface="Arial" panose="020B0604020202020204" pitchFamily="34" charset="0"/>
              </a:rPr>
              <a:t>NeuroForge</a:t>
            </a:r>
            <a:r>
              <a:rPr lang="en-IN" sz="4800" b="1" dirty="0">
                <a:latin typeface="Arial" panose="020B0604020202020204" pitchFamily="34" charset="0"/>
                <a:cs typeface="Arial" panose="020B0604020202020204" pitchFamily="34" charset="0"/>
              </a:rPr>
              <a:t> Enterprise SDLC Platform</a:t>
            </a:r>
            <a:endParaRPr lang="en-IN" sz="4800" b="1"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Unified </a:t>
            </a:r>
            <a:r>
              <a:rPr lang="en-IN" b="1" dirty="0" err="1"/>
              <a:t>Modeling</a:t>
            </a:r>
            <a:r>
              <a:rPr lang="en-IN" b="1" dirty="0"/>
              <a:t> Language (UML)</a:t>
            </a:r>
            <a:endParaRPr lang="en-IN" b="1" dirty="0"/>
          </a:p>
        </p:txBody>
      </p:sp>
      <p:sp>
        <p:nvSpPr>
          <p:cNvPr id="4" name="Rectangle 1"/>
          <p:cNvSpPr>
            <a:spLocks noGrp="1" noChangeArrowheads="1"/>
          </p:cNvSpPr>
          <p:nvPr>
            <p:ph idx="1"/>
          </p:nvPr>
        </p:nvSpPr>
        <p:spPr bwMode="auto">
          <a:xfrm>
            <a:off x="1324302" y="1584647"/>
            <a:ext cx="1073106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lvl="0" indent="0" algn="just" defTabSz="914400" eaLnBrk="0" fontAlgn="base" hangingPunct="0">
              <a:spcBef>
                <a:spcPct val="0"/>
              </a:spcBef>
              <a:spcAft>
                <a:spcPct val="0"/>
              </a:spcAft>
              <a:buClrTx/>
              <a:buNone/>
            </a:pPr>
            <a:r>
              <a:rPr lang="en-IN" b="1" dirty="0"/>
              <a:t>What is UML</a:t>
            </a:r>
            <a:r>
              <a:rPr lang="en-IN" b="1" dirty="0" smtClean="0"/>
              <a:t>?</a:t>
            </a:r>
            <a:endParaRPr lang="en-IN" b="1" dirty="0" smtClean="0"/>
          </a:p>
          <a:p>
            <a:pPr marL="0" lvl="0" indent="0" algn="just" defTabSz="914400" eaLnBrk="0" fontAlgn="base" hangingPunct="0">
              <a:spcBef>
                <a:spcPct val="0"/>
              </a:spcBef>
              <a:spcAft>
                <a:spcPct val="0"/>
              </a:spcAft>
              <a:buClrTx/>
              <a:buNone/>
            </a:pP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1800" i="0" u="none" strike="noStrike" cap="none" normalizeH="0" baseline="0" dirty="0" smtClean="0">
                <a:ln>
                  <a:noFill/>
                </a:ln>
                <a:solidFill>
                  <a:schemeClr val="tx1"/>
                </a:solidFill>
                <a:effectLst/>
                <a:latin typeface="Arial" panose="020B0604020202020204" pitchFamily="34" charset="0"/>
              </a:rPr>
              <a:t>UML stands for Unified Modeling Language. </a:t>
            </a: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1800" i="0" u="none" strike="noStrike" cap="none" normalizeH="0" baseline="0" dirty="0" smtClean="0">
                <a:ln>
                  <a:noFill/>
                </a:ln>
                <a:solidFill>
                  <a:schemeClr val="tx1"/>
                </a:solidFill>
                <a:effectLst/>
                <a:latin typeface="Arial" panose="020B0604020202020204" pitchFamily="34" charset="0"/>
              </a:rPr>
              <a:t>It is a standard graphical modeling language used to visualize, design, document, and communicate the structure and behavior of a software system. </a:t>
            </a: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1800" i="0" u="none" strike="noStrike" cap="none" normalizeH="0" baseline="0" dirty="0" smtClean="0">
                <a:ln>
                  <a:noFill/>
                </a:ln>
                <a:solidFill>
                  <a:schemeClr val="tx1"/>
                </a:solidFill>
                <a:effectLst/>
                <a:latin typeface="Arial" panose="020B0604020202020204" pitchFamily="34" charset="0"/>
              </a:rPr>
              <a:t>UML helps developers understand the system before coding by representing it through different diagrams. </a:t>
            </a: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1800" i="0" u="none" strike="noStrike" cap="none" normalizeH="0" baseline="0" dirty="0" smtClean="0">
                <a:ln>
                  <a:noFill/>
                </a:ln>
                <a:solidFill>
                  <a:schemeClr val="tx1"/>
                </a:solidFill>
                <a:effectLst/>
                <a:latin typeface="Arial" panose="020B0604020202020204" pitchFamily="34" charset="0"/>
              </a:rPr>
              <a:t>It is widely used in Object-Oriented Software Development (OOSD). </a:t>
            </a: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1800" i="0" u="none" strike="noStrike" cap="none" normalizeH="0" baseline="0" dirty="0" smtClean="0">
                <a:ln>
                  <a:noFill/>
                </a:ln>
                <a:solidFill>
                  <a:schemeClr val="tx1"/>
                </a:solidFill>
                <a:effectLst/>
                <a:latin typeface="Arial" panose="020B0604020202020204" pitchFamily="34" charset="0"/>
              </a:rPr>
              <a:t>UML was developed by the Object Management Group (OMG). </a:t>
            </a:r>
            <a:endParaRPr kumimoji="0" lang="en-US" altLang="en-US" sz="180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5244" y="325821"/>
            <a:ext cx="4141075" cy="693682"/>
          </a:xfrm>
        </p:spPr>
        <p:txBody>
          <a:bodyPr/>
          <a:lstStyle/>
          <a:p>
            <a:r>
              <a:rPr lang="en-IN" b="1" dirty="0"/>
              <a:t>Why is UML Used?</a:t>
            </a:r>
            <a:endParaRPr lang="en-IN" b="1" dirty="0"/>
          </a:p>
        </p:txBody>
      </p:sp>
      <p:sp>
        <p:nvSpPr>
          <p:cNvPr id="3" name="Content Placeholder 2"/>
          <p:cNvSpPr>
            <a:spLocks noGrp="1"/>
          </p:cNvSpPr>
          <p:nvPr>
            <p:ph idx="1"/>
          </p:nvPr>
        </p:nvSpPr>
        <p:spPr>
          <a:xfrm>
            <a:off x="966952" y="1681654"/>
            <a:ext cx="10537660" cy="4229567"/>
          </a:xfrm>
        </p:spPr>
        <p:txBody>
          <a:bodyPr>
            <a:normAutofit/>
          </a:bodyPr>
          <a:lstStyle/>
          <a:p>
            <a:pPr algn="just">
              <a:lnSpc>
                <a:spcPct val="150000"/>
              </a:lnSpc>
            </a:pPr>
            <a:r>
              <a:rPr lang="en-IN" sz="2000" dirty="0">
                <a:latin typeface="Arial" panose="020B0604020202020204" pitchFamily="34" charset="0"/>
                <a:cs typeface="Arial" panose="020B0604020202020204" pitchFamily="34" charset="0"/>
              </a:rPr>
              <a:t>Unified </a:t>
            </a:r>
            <a:r>
              <a:rPr lang="en-IN" sz="2000" dirty="0" err="1">
                <a:latin typeface="Arial" panose="020B0604020202020204" pitchFamily="34" charset="0"/>
                <a:cs typeface="Arial" panose="020B0604020202020204" pitchFamily="34" charset="0"/>
              </a:rPr>
              <a:t>Modeling</a:t>
            </a:r>
            <a:r>
              <a:rPr lang="en-IN" sz="2000" dirty="0">
                <a:latin typeface="Arial" panose="020B0604020202020204" pitchFamily="34" charset="0"/>
                <a:cs typeface="Arial" panose="020B0604020202020204" pitchFamily="34" charset="0"/>
              </a:rPr>
              <a:t> Language (UML) is used to plan, </a:t>
            </a:r>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and design a software system before the coding process begins. It provides a clear visual representation of the system, making it easier for developers, designers, clients, and stakeholders to understand the system architecture and functionality. UML helps simplify complex software designs, improves communication among team members, and identifies design errors at an early stage, reducing development time and cost. It also serves as a valuable documentation tool for future maintenance and upgrades while supporting software testing, debugging, and object-oriented software development.</a:t>
            </a: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5448" y="329818"/>
            <a:ext cx="4810071" cy="973464"/>
          </a:xfrm>
        </p:spPr>
        <p:txBody>
          <a:bodyPr>
            <a:normAutofit/>
          </a:bodyPr>
          <a:lstStyle/>
          <a:p>
            <a:r>
              <a:rPr lang="en-IN" b="1" dirty="0">
                <a:latin typeface="Arial" panose="020B0604020202020204" pitchFamily="34" charset="0"/>
                <a:cs typeface="Arial" panose="020B0604020202020204" pitchFamily="34" charset="0"/>
              </a:rPr>
              <a:t>Benefits of UML</a:t>
            </a:r>
            <a:endParaRPr lang="en-IN"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786759" y="1229710"/>
            <a:ext cx="9717853" cy="4971393"/>
          </a:xfrm>
        </p:spPr>
        <p:txBody>
          <a:bodyPr>
            <a:normAutofit/>
          </a:bodyPr>
          <a:lstStyle/>
          <a:p>
            <a:pPr algn="just">
              <a:lnSpc>
                <a:spcPct val="150000"/>
              </a:lnSpc>
            </a:pPr>
            <a:r>
              <a:rPr lang="en-IN" dirty="0" smtClean="0">
                <a:latin typeface="Arial" panose="020B0604020202020204" pitchFamily="34" charset="0"/>
                <a:cs typeface="Arial" panose="020B0604020202020204" pitchFamily="34" charset="0"/>
              </a:rPr>
              <a:t>Standardized </a:t>
            </a:r>
            <a:r>
              <a:rPr lang="en-IN" dirty="0" err="1" smtClean="0">
                <a:latin typeface="Arial" panose="020B0604020202020204" pitchFamily="34" charset="0"/>
                <a:cs typeface="Arial" panose="020B0604020202020204" pitchFamily="34" charset="0"/>
              </a:rPr>
              <a:t>modeling</a:t>
            </a:r>
            <a:r>
              <a:rPr lang="en-IN" dirty="0" smtClean="0">
                <a:latin typeface="Arial" panose="020B0604020202020204" pitchFamily="34" charset="0"/>
                <a:cs typeface="Arial" panose="020B0604020202020204" pitchFamily="34" charset="0"/>
              </a:rPr>
              <a:t> language </a:t>
            </a:r>
            <a:endParaRPr lang="en-IN" dirty="0" smtClean="0">
              <a:latin typeface="Arial" panose="020B0604020202020204" pitchFamily="34" charset="0"/>
              <a:cs typeface="Arial" panose="020B0604020202020204" pitchFamily="34" charset="0"/>
            </a:endParaRPr>
          </a:p>
          <a:p>
            <a:pPr algn="just">
              <a:lnSpc>
                <a:spcPct val="150000"/>
              </a:lnSpc>
            </a:pPr>
            <a:r>
              <a:rPr lang="en-IN" dirty="0" smtClean="0">
                <a:latin typeface="Arial" panose="020B0604020202020204" pitchFamily="34" charset="0"/>
                <a:cs typeface="Arial" panose="020B0604020202020204" pitchFamily="34" charset="0"/>
              </a:rPr>
              <a:t>Easy </a:t>
            </a:r>
            <a:r>
              <a:rPr lang="en-IN" dirty="0">
                <a:latin typeface="Arial" panose="020B0604020202020204" pitchFamily="34" charset="0"/>
                <a:cs typeface="Arial" panose="020B0604020202020204" pitchFamily="34" charset="0"/>
              </a:rPr>
              <a:t>to understand and communicate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Platform independent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Improves software quality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Detects design errors early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Reduces development cost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Supports object-oriented development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Enhances project documentation </a:t>
            </a:r>
            <a:endParaRPr lang="en-IN" dirty="0">
              <a:latin typeface="Arial" panose="020B0604020202020204" pitchFamily="34" charset="0"/>
              <a:cs typeface="Arial" panose="020B0604020202020204" pitchFamily="34" charset="0"/>
            </a:endParaRPr>
          </a:p>
          <a:p>
            <a:pPr algn="just">
              <a:lnSpc>
                <a:spcPct val="150000"/>
              </a:lnSpc>
            </a:pPr>
            <a:r>
              <a:rPr lang="en-IN" dirty="0">
                <a:latin typeface="Arial" panose="020B0604020202020204" pitchFamily="34" charset="0"/>
                <a:cs typeface="Arial" panose="020B0604020202020204" pitchFamily="34" charset="0"/>
              </a:rPr>
              <a:t>Simplifies maintenance and future upgrades </a:t>
            </a:r>
            <a:endParaRPr lang="en-IN" dirty="0">
              <a:latin typeface="Arial" panose="020B0604020202020204" pitchFamily="34" charset="0"/>
              <a:cs typeface="Arial" panose="020B0604020202020204" pitchFamily="34" charset="0"/>
            </a:endParaRPr>
          </a:p>
          <a:p>
            <a:pPr algn="just">
              <a:lnSpc>
                <a:spcPct val="150000"/>
              </a:lnSpc>
            </a:pPr>
            <a:endParaRPr lang="en-IN"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6414" y="235227"/>
            <a:ext cx="5468509" cy="794787"/>
          </a:xfrm>
        </p:spPr>
        <p:txBody>
          <a:bodyPr/>
          <a:lstStyle/>
          <a:p>
            <a:r>
              <a:rPr lang="en-IN" b="1" dirty="0">
                <a:latin typeface="Arial" panose="020B0604020202020204" pitchFamily="34" charset="0"/>
                <a:cs typeface="Arial" panose="020B0604020202020204" pitchFamily="34" charset="0"/>
              </a:rPr>
              <a:t>Types of UML Diagrams</a:t>
            </a:r>
            <a:endParaRPr lang="en-IN" b="1" dirty="0">
              <a:latin typeface="Arial" panose="020B0604020202020204" pitchFamily="34" charset="0"/>
              <a:cs typeface="Arial" panose="020B0604020202020204" pitchFamily="34" charset="0"/>
            </a:endParaRPr>
          </a:p>
        </p:txBody>
      </p:sp>
      <p:graphicFrame>
        <p:nvGraphicFramePr>
          <p:cNvPr id="4" name="Content Placeholder 3"/>
          <p:cNvGraphicFramePr>
            <a:graphicFrameLocks noGrp="1"/>
          </p:cNvGraphicFramePr>
          <p:nvPr>
            <p:ph idx="1"/>
          </p:nvPr>
        </p:nvGraphicFramePr>
        <p:xfrm>
          <a:off x="2382968" y="1286204"/>
          <a:ext cx="8915400" cy="5171746"/>
        </p:xfrm>
        <a:graphic>
          <a:graphicData uri="http://schemas.openxmlformats.org/drawingml/2006/table">
            <a:tbl>
              <a:tblPr firstRow="1" bandRow="1">
                <a:tableStyleId>{5C22544A-7EE6-4342-B048-85BDC9FD1C3A}</a:tableStyleId>
              </a:tblPr>
              <a:tblGrid>
                <a:gridCol w="4457700"/>
                <a:gridCol w="4457700"/>
              </a:tblGrid>
              <a:tr h="647577">
                <a:tc>
                  <a:txBody>
                    <a:bodyPr/>
                    <a:lstStyle/>
                    <a:p>
                      <a:r>
                        <a:rPr lang="en-IN" b="1" dirty="0" smtClean="0">
                          <a:latin typeface="Arial" panose="020B0604020202020204" pitchFamily="34" charset="0"/>
                          <a:cs typeface="Arial" panose="020B0604020202020204" pitchFamily="34" charset="0"/>
                        </a:rPr>
                        <a:t>Structural Diagrams</a:t>
                      </a:r>
                      <a:endParaRPr lang="en-IN" b="1" dirty="0">
                        <a:latin typeface="Arial" panose="020B0604020202020204" pitchFamily="34" charset="0"/>
                        <a:cs typeface="Arial" panose="020B0604020202020204" pitchFamily="34" charset="0"/>
                      </a:endParaRPr>
                    </a:p>
                  </a:txBody>
                  <a:tcPr/>
                </a:tc>
                <a:tc>
                  <a:txBody>
                    <a:bodyPr/>
                    <a:lstStyle/>
                    <a:p>
                      <a:r>
                        <a:rPr lang="en-IN" b="1" dirty="0" err="1" smtClean="0">
                          <a:latin typeface="Arial" panose="020B0604020202020204" pitchFamily="34" charset="0"/>
                          <a:cs typeface="Arial" panose="020B0604020202020204" pitchFamily="34" charset="0"/>
                        </a:rPr>
                        <a:t>Behavioral</a:t>
                      </a:r>
                      <a:r>
                        <a:rPr lang="en-IN" b="1" dirty="0" smtClean="0">
                          <a:latin typeface="Arial" panose="020B0604020202020204" pitchFamily="34" charset="0"/>
                          <a:cs typeface="Arial" panose="020B0604020202020204" pitchFamily="34" charset="0"/>
                        </a:rPr>
                        <a:t> Diagrams</a:t>
                      </a:r>
                      <a:endParaRPr lang="en-IN" b="1" dirty="0">
                        <a:latin typeface="Arial" panose="020B0604020202020204" pitchFamily="34" charset="0"/>
                        <a:cs typeface="Arial" panose="020B0604020202020204" pitchFamily="34" charset="0"/>
                      </a:endParaRPr>
                    </a:p>
                  </a:txBody>
                  <a:tcPr/>
                </a:tc>
              </a:tr>
              <a:tr h="647577">
                <a:tc>
                  <a:txBody>
                    <a:bodyPr/>
                    <a:lstStyle/>
                    <a:p>
                      <a:pPr algn="just"/>
                      <a:r>
                        <a:rPr lang="en-IN" dirty="0" smtClean="0">
                          <a:latin typeface="Arial" panose="020B0604020202020204" pitchFamily="34" charset="0"/>
                          <a:cs typeface="Arial" panose="020B0604020202020204" pitchFamily="34" charset="0"/>
                        </a:rPr>
                        <a:t>Class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Use Case Diagram</a:t>
                      </a:r>
                      <a:endParaRPr lang="en-IN" dirty="0">
                        <a:latin typeface="Arial" panose="020B0604020202020204" pitchFamily="34" charset="0"/>
                        <a:cs typeface="Arial" panose="020B0604020202020204" pitchFamily="34" charset="0"/>
                      </a:endParaRPr>
                    </a:p>
                  </a:txBody>
                  <a:tcPr/>
                </a:tc>
              </a:tr>
              <a:tr h="638707">
                <a:tc>
                  <a:txBody>
                    <a:bodyPr/>
                    <a:lstStyle/>
                    <a:p>
                      <a:pPr algn="just"/>
                      <a:r>
                        <a:rPr lang="en-IN" dirty="0" smtClean="0">
                          <a:latin typeface="Arial" panose="020B0604020202020204" pitchFamily="34" charset="0"/>
                          <a:cs typeface="Arial" panose="020B0604020202020204" pitchFamily="34" charset="0"/>
                        </a:rPr>
                        <a:t>Object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Activity Diagram</a:t>
                      </a:r>
                      <a:endParaRPr lang="en-IN" dirty="0">
                        <a:latin typeface="Arial" panose="020B0604020202020204" pitchFamily="34" charset="0"/>
                        <a:cs typeface="Arial" panose="020B0604020202020204" pitchFamily="34" charset="0"/>
                      </a:endParaRPr>
                    </a:p>
                  </a:txBody>
                  <a:tcPr/>
                </a:tc>
              </a:tr>
              <a:tr h="647577">
                <a:tc>
                  <a:txBody>
                    <a:bodyPr/>
                    <a:lstStyle/>
                    <a:p>
                      <a:pPr algn="just"/>
                      <a:r>
                        <a:rPr lang="en-IN" dirty="0" smtClean="0">
                          <a:latin typeface="Arial" panose="020B0604020202020204" pitchFamily="34" charset="0"/>
                          <a:cs typeface="Arial" panose="020B0604020202020204" pitchFamily="34" charset="0"/>
                        </a:rPr>
                        <a:t>Component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Sequence Diagram</a:t>
                      </a:r>
                      <a:endParaRPr lang="en-IN" dirty="0">
                        <a:latin typeface="Arial" panose="020B0604020202020204" pitchFamily="34" charset="0"/>
                        <a:cs typeface="Arial" panose="020B0604020202020204" pitchFamily="34" charset="0"/>
                      </a:endParaRPr>
                    </a:p>
                  </a:txBody>
                  <a:tcPr/>
                </a:tc>
              </a:tr>
              <a:tr h="647577">
                <a:tc>
                  <a:txBody>
                    <a:bodyPr/>
                    <a:lstStyle/>
                    <a:p>
                      <a:pPr algn="just"/>
                      <a:r>
                        <a:rPr lang="en-IN" dirty="0" smtClean="0">
                          <a:latin typeface="Arial" panose="020B0604020202020204" pitchFamily="34" charset="0"/>
                          <a:cs typeface="Arial" panose="020B0604020202020204" pitchFamily="34" charset="0"/>
                        </a:rPr>
                        <a:t>Package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Communication Diagram</a:t>
                      </a:r>
                      <a:endParaRPr lang="en-IN" dirty="0">
                        <a:latin typeface="Arial" panose="020B0604020202020204" pitchFamily="34" charset="0"/>
                        <a:cs typeface="Arial" panose="020B0604020202020204" pitchFamily="34" charset="0"/>
                      </a:endParaRPr>
                    </a:p>
                  </a:txBody>
                  <a:tcPr/>
                </a:tc>
              </a:tr>
              <a:tr h="647577">
                <a:tc>
                  <a:txBody>
                    <a:bodyPr/>
                    <a:lstStyle/>
                    <a:p>
                      <a:pPr algn="just"/>
                      <a:r>
                        <a:rPr lang="en-IN" dirty="0" smtClean="0">
                          <a:latin typeface="Arial" panose="020B0604020202020204" pitchFamily="34" charset="0"/>
                          <a:cs typeface="Arial" panose="020B0604020202020204" pitchFamily="34" charset="0"/>
                        </a:rPr>
                        <a:t>Deployment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State Machine Diagram</a:t>
                      </a:r>
                      <a:endParaRPr lang="en-IN" dirty="0">
                        <a:latin typeface="Arial" panose="020B0604020202020204" pitchFamily="34" charset="0"/>
                        <a:cs typeface="Arial" panose="020B0604020202020204" pitchFamily="34" charset="0"/>
                      </a:endParaRPr>
                    </a:p>
                  </a:txBody>
                  <a:tcPr/>
                </a:tc>
              </a:tr>
              <a:tr h="647577">
                <a:tc>
                  <a:txBody>
                    <a:bodyPr/>
                    <a:lstStyle/>
                    <a:p>
                      <a:pPr algn="just"/>
                      <a:r>
                        <a:rPr lang="en-IN" dirty="0" smtClean="0">
                          <a:latin typeface="Arial" panose="020B0604020202020204" pitchFamily="34" charset="0"/>
                          <a:cs typeface="Arial" panose="020B0604020202020204" pitchFamily="34" charset="0"/>
                        </a:rPr>
                        <a:t>Composite Structure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Interaction Overview Diagram</a:t>
                      </a:r>
                      <a:endParaRPr lang="en-IN" dirty="0">
                        <a:latin typeface="Arial" panose="020B0604020202020204" pitchFamily="34" charset="0"/>
                        <a:cs typeface="Arial" panose="020B0604020202020204" pitchFamily="34" charset="0"/>
                      </a:endParaRPr>
                    </a:p>
                  </a:txBody>
                  <a:tcPr/>
                </a:tc>
              </a:tr>
              <a:tr h="647577">
                <a:tc>
                  <a:txBody>
                    <a:bodyPr/>
                    <a:lstStyle/>
                    <a:p>
                      <a:pPr algn="just"/>
                      <a:r>
                        <a:rPr lang="en-IN" dirty="0" smtClean="0">
                          <a:latin typeface="Arial" panose="020B0604020202020204" pitchFamily="34" charset="0"/>
                          <a:cs typeface="Arial" panose="020B0604020202020204" pitchFamily="34" charset="0"/>
                        </a:rPr>
                        <a:t>Profile Diagram</a:t>
                      </a:r>
                      <a:endParaRPr lang="en-IN" dirty="0">
                        <a:latin typeface="Arial" panose="020B0604020202020204" pitchFamily="34" charset="0"/>
                        <a:cs typeface="Arial" panose="020B0604020202020204" pitchFamily="34" charset="0"/>
                      </a:endParaRPr>
                    </a:p>
                  </a:txBody>
                  <a:tcPr/>
                </a:tc>
                <a:tc>
                  <a:txBody>
                    <a:bodyPr/>
                    <a:lstStyle/>
                    <a:p>
                      <a:r>
                        <a:rPr lang="en-IN" dirty="0" smtClean="0">
                          <a:latin typeface="Arial" panose="020B0604020202020204" pitchFamily="34" charset="0"/>
                          <a:cs typeface="Arial" panose="020B0604020202020204" pitchFamily="34" charset="0"/>
                        </a:rPr>
                        <a:t>Timing Diagram</a:t>
                      </a:r>
                      <a:endParaRPr lang="en-IN" dirty="0">
                        <a:latin typeface="Arial" panose="020B0604020202020204" pitchFamily="34" charset="0"/>
                        <a:cs typeface="Arial" panose="020B0604020202020204" pitchFamily="3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26425" y="395510"/>
            <a:ext cx="5922425" cy="646331"/>
          </a:xfrm>
          <a:prstGeom prst="rect">
            <a:avLst/>
          </a:prstGeom>
        </p:spPr>
        <p:txBody>
          <a:bodyPr wrap="square">
            <a:spAutoFit/>
          </a:bodyPr>
          <a:lstStyle/>
          <a:p>
            <a:r>
              <a:rPr lang="en-IN" b="1" dirty="0">
                <a:latin typeface="Arial" panose="020B0604020202020204" pitchFamily="34" charset="0"/>
                <a:cs typeface="Arial" panose="020B0604020202020204" pitchFamily="34" charset="0"/>
              </a:rPr>
              <a:t>Use Case Diagram</a:t>
            </a:r>
            <a:endParaRPr lang="en-IN" b="1" dirty="0">
              <a:latin typeface="Arial" panose="020B0604020202020204" pitchFamily="34" charset="0"/>
              <a:cs typeface="Arial" panose="020B0604020202020204" pitchFamily="34" charset="0"/>
            </a:endParaRPr>
          </a:p>
        </p:txBody>
      </p:sp>
      <p:pic>
        <p:nvPicPr>
          <p:cNvPr id="11" name="Content Placeholder 10"/>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bwMode="auto">
          <a:xfrm>
            <a:off x="2364609" y="1292772"/>
            <a:ext cx="7578834" cy="4981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448" y="235228"/>
            <a:ext cx="4603531" cy="784276"/>
          </a:xfrm>
        </p:spPr>
        <p:txBody>
          <a:bodyPr/>
          <a:lstStyle/>
          <a:p>
            <a:r>
              <a:rPr lang="en-IN" b="1" dirty="0">
                <a:latin typeface="Arial" panose="020B0604020202020204" pitchFamily="34" charset="0"/>
                <a:cs typeface="Arial" panose="020B0604020202020204" pitchFamily="34" charset="0"/>
              </a:rPr>
              <a:t>Activity Diagram</a:t>
            </a:r>
            <a:endParaRPr lang="en-IN" b="1" dirty="0">
              <a:latin typeface="Arial" panose="020B0604020202020204" pitchFamily="34" charset="0"/>
              <a:cs typeface="Arial" panose="020B0604020202020204" pitchFamily="34" charset="0"/>
            </a:endParaRPr>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bwMode="auto">
          <a:xfrm>
            <a:off x="2963917" y="1303283"/>
            <a:ext cx="6568965" cy="51605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3071" y="403393"/>
            <a:ext cx="4627682" cy="731724"/>
          </a:xfrm>
        </p:spPr>
        <p:txBody>
          <a:bodyPr/>
          <a:lstStyle/>
          <a:p>
            <a:r>
              <a:rPr lang="en-IN" b="1" dirty="0"/>
              <a:t>Sequence Diagram</a:t>
            </a:r>
            <a:endParaRPr lang="en-IN" b="1"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132083" y="1545019"/>
            <a:ext cx="6754187" cy="4708635"/>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4354" y="434924"/>
            <a:ext cx="3545116" cy="742235"/>
          </a:xfrm>
        </p:spPr>
        <p:txBody>
          <a:bodyPr/>
          <a:lstStyle/>
          <a:p>
            <a:r>
              <a:rPr lang="en-IN" b="1" dirty="0"/>
              <a:t>Class Diagram</a:t>
            </a:r>
            <a:endParaRPr lang="en-IN" b="1" dirty="0"/>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669628" y="1271752"/>
            <a:ext cx="7872247" cy="4981903"/>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4861" y="435424"/>
            <a:ext cx="3024104" cy="725719"/>
          </a:xfrm>
        </p:spPr>
        <p:txBody>
          <a:bodyPr/>
          <a:lstStyle/>
          <a:p>
            <a:r>
              <a:rPr lang="en-IN" b="1" dirty="0" smtClean="0"/>
              <a:t>ER Diagram</a:t>
            </a:r>
            <a:endParaRPr lang="en-IN" b="1" dirty="0"/>
          </a:p>
        </p:txBody>
      </p:sp>
      <p:pic>
        <p:nvPicPr>
          <p:cNvPr id="6" name="Content Placeholder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638424" y="1282955"/>
            <a:ext cx="8383361" cy="5255479"/>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9925" y="2732310"/>
            <a:ext cx="4887376" cy="1014190"/>
          </a:xfrm>
        </p:spPr>
        <p:txBody>
          <a:bodyPr>
            <a:normAutofit/>
          </a:bodyPr>
          <a:lstStyle/>
          <a:p>
            <a:r>
              <a:rPr lang="en-IN" sz="6000" b="1" dirty="0" smtClean="0"/>
              <a:t>THANK YOU</a:t>
            </a:r>
            <a:endParaRPr lang="en-IN" sz="6000" b="1"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1839</Words>
  <Application>WPS Presentation</Application>
  <PresentationFormat>Widescreen</PresentationFormat>
  <Paragraphs>75</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Wingdings 3</vt:lpstr>
      <vt:lpstr>Arial</vt:lpstr>
      <vt:lpstr>Microsoft YaHei</vt:lpstr>
      <vt:lpstr>Arial Unicode MS</vt:lpstr>
      <vt:lpstr>Century Gothic</vt:lpstr>
      <vt:lpstr>Calibri</vt:lpstr>
      <vt:lpstr>Wisp</vt:lpstr>
      <vt:lpstr>NeuroForge Enterprise SDLC Platform</vt:lpstr>
      <vt:lpstr>Unified Modeling Language (UML)</vt:lpstr>
      <vt:lpstr>Why is UML Used?</vt:lpstr>
      <vt:lpstr>Benefits of UML</vt:lpstr>
      <vt:lpstr>Types of UML Diagrams</vt:lpstr>
      <vt:lpstr>Use Case Diagram</vt:lpstr>
      <vt:lpstr>Activity Diagram</vt:lpstr>
      <vt:lpstr>Sequence Diagram</vt:lpstr>
      <vt:lpstr>Class Diagram</vt:lpstr>
      <vt:lpstr>ER Diagram</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NeuroForge Enterprise SDLC Platform</dc:title>
  <dc:creator>4373 2020</dc:creator>
  <cp:lastModifiedBy>Mannu</cp:lastModifiedBy>
  <cp:revision>6</cp:revision>
  <dcterms:created xsi:type="dcterms:W3CDTF">2026-08-04T05:53:00Z</dcterms:created>
  <dcterms:modified xsi:type="dcterms:W3CDTF">2026-08-06T15:48:08Z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C50DD744E2844EDFBF17C9C3CA749DA6_12</vt:lpwstr>
  </property>
  <property fmtid="{D5CDD505-2E9C-101B-9397-08002B2CF9AE}" pid="3" name="KSOProductBuildVer">
    <vt:lpwstr>1033-12.1.0.28032</vt:lpwstr>
  </property>
</Properties>
</file>