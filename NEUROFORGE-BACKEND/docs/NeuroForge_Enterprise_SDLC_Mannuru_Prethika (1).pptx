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8092440" y="-685800"/>
            <a:ext cx="4389120" cy="4389120"/>
          </a:xfrm>
          <a:prstGeom prst="ellipse">
            <a:avLst/>
          </a:prstGeom>
          <a:solidFill>
            <a:srgbClr val="EC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143000"/>
            <a:ext cx="9875520" cy="594360"/>
          </a:xfrm>
          <a:prstGeom prst="rect">
            <a:avLst/>
          </a:prstGeom>
          <a:noFill/>
        </p:spPr>
        <p:txBody>
          <a:bodyPr wrap="square" lIns="36576" rIns="36576" tIns="36576" bIns="36576" anchor="t">
            <a:spAutoFit/>
          </a:bodyPr>
          <a:lstStyle/>
          <a:p>
            <a:pPr algn="l">
              <a:defRPr sz="3100" b="1">
                <a:solidFill>
                  <a:srgbClr val="14263F"/>
                </a:solidFill>
                <a:latin typeface="Aptos"/>
              </a:defRPr>
            </a:pPr>
            <a:r>
              <a:t>NEUROFORGE ENTERPRISE</a:t>
            </a:r>
          </a:p>
        </p:txBody>
      </p:sp>
      <p:sp>
        <p:nvSpPr>
          <p:cNvPr id="6" name="TextBox 5"/>
          <p:cNvSpPr txBox="1"/>
          <p:nvPr/>
        </p:nvSpPr>
        <p:spPr>
          <a:xfrm>
            <a:off x="822960" y="1783080"/>
            <a:ext cx="8229600" cy="640080"/>
          </a:xfrm>
          <a:prstGeom prst="rect">
            <a:avLst/>
          </a:prstGeom>
          <a:noFill/>
        </p:spPr>
        <p:txBody>
          <a:bodyPr wrap="square" lIns="36576" rIns="36576" tIns="36576" bIns="36576" anchor="t">
            <a:spAutoFit/>
          </a:bodyPr>
          <a:lstStyle/>
          <a:p>
            <a:pPr algn="l">
              <a:defRPr sz="3800" b="1">
                <a:solidFill>
                  <a:srgbClr val="2165AC"/>
                </a:solidFill>
                <a:latin typeface="Aptos"/>
              </a:defRPr>
            </a:pPr>
            <a:r>
              <a:t>SDLC PLATFORM</a:t>
            </a:r>
          </a:p>
        </p:txBody>
      </p:sp>
      <p:sp>
        <p:nvSpPr>
          <p:cNvPr id="7" name="TextBox 6"/>
          <p:cNvSpPr txBox="1"/>
          <p:nvPr/>
        </p:nvSpPr>
        <p:spPr>
          <a:xfrm>
            <a:off x="822960" y="4892040"/>
            <a:ext cx="2743200" cy="274320"/>
          </a:xfrm>
          <a:prstGeom prst="rect">
            <a:avLst/>
          </a:prstGeom>
          <a:noFill/>
        </p:spPr>
        <p:txBody>
          <a:bodyPr wrap="square" lIns="36576" rIns="36576" tIns="36576" bIns="36576" anchor="t">
            <a:spAutoFit/>
          </a:bodyPr>
          <a:lstStyle/>
          <a:p>
            <a:pPr algn="l">
              <a:defRPr sz="1100" b="1">
                <a:solidFill>
                  <a:srgbClr val="647180"/>
                </a:solidFill>
                <a:latin typeface="Aptos"/>
              </a:defRPr>
            </a:pPr>
            <a:r>
              <a:t>PREPARED BY :</a:t>
            </a:r>
          </a:p>
        </p:txBody>
      </p:sp>
      <p:sp>
        <p:nvSpPr>
          <p:cNvPr id="8" name="TextBox 7"/>
          <p:cNvSpPr txBox="1"/>
          <p:nvPr/>
        </p:nvSpPr>
        <p:spPr>
          <a:xfrm>
            <a:off x="822960" y="5230368"/>
            <a:ext cx="4572000" cy="365760"/>
          </a:xfrm>
          <a:prstGeom prst="rect">
            <a:avLst/>
          </a:prstGeom>
          <a:noFill/>
        </p:spPr>
        <p:txBody>
          <a:bodyPr wrap="square" lIns="36576" rIns="36576" tIns="36576" bIns="36576" anchor="t">
            <a:spAutoFit/>
          </a:bodyPr>
          <a:lstStyle/>
          <a:p>
            <a:pPr algn="l">
              <a:defRPr sz="2000" b="1">
                <a:solidFill>
                  <a:srgbClr val="14263F"/>
                </a:solidFill>
                <a:latin typeface="Aptos"/>
              </a:defRPr>
            </a:pPr>
            <a:r>
              <a:t>MANNURU PRETHIKA</a:t>
            </a:r>
          </a:p>
        </p:txBody>
      </p:sp>
      <p:sp>
        <p:nvSpPr>
          <p:cNvPr id="9" name="TextBox 8"/>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WHAT IS NEUROFORGE ENTERPRISE SDLC PLATFORM?</a:t>
            </a:r>
          </a:p>
        </p:txBody>
      </p:sp>
      <p:sp>
        <p:nvSpPr>
          <p:cNvPr id="5" name="Rounded Rectangle 4"/>
          <p:cNvSpPr/>
          <p:nvPr/>
        </p:nvSpPr>
        <p:spPr>
          <a:xfrm>
            <a:off x="685800" y="1325880"/>
            <a:ext cx="10835640" cy="49834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325880"/>
            <a:ext cx="64008" cy="49834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444752"/>
            <a:ext cx="10579608" cy="384048"/>
          </a:xfrm>
          <a:prstGeom prst="rect">
            <a:avLst/>
          </a:prstGeom>
          <a:noFill/>
        </p:spPr>
        <p:txBody>
          <a:bodyPr wrap="square" lIns="36576" rIns="36576" tIns="36576" bIns="36576" anchor="t">
            <a:spAutoFit/>
          </a:bodyPr>
          <a:lstStyle/>
          <a:p>
            <a:pPr algn="l">
              <a:defRPr sz="1700" b="1">
                <a:solidFill>
                  <a:srgbClr val="14263F"/>
                </a:solidFill>
                <a:latin typeface="Aptos"/>
              </a:defRPr>
            </a:pPr>
            <a:r>
              <a:t>NeuroForge Enterprise SDLC Platform</a:t>
            </a:r>
          </a:p>
        </p:txBody>
      </p:sp>
      <p:sp>
        <p:nvSpPr>
          <p:cNvPr id="8" name="TextBox 7"/>
          <p:cNvSpPr txBox="1"/>
          <p:nvPr/>
        </p:nvSpPr>
        <p:spPr>
          <a:xfrm>
            <a:off x="850392" y="1856232"/>
            <a:ext cx="10561320" cy="4361688"/>
          </a:xfrm>
          <a:prstGeom prst="rect">
            <a:avLst/>
          </a:prstGeom>
          <a:noFill/>
        </p:spPr>
        <p:txBody>
          <a:bodyPr wrap="square" lIns="36576" rIns="36576" tIns="36576" bIns="36576" anchor="t">
            <a:spAutoFit/>
          </a:bodyPr>
          <a:lstStyle/>
          <a:p>
            <a:pPr algn="l">
              <a:defRPr sz="1400" b="0">
                <a:solidFill>
                  <a:srgbClr val="2D3A48"/>
                </a:solidFill>
                <a:latin typeface="Aptos"/>
              </a:defRPr>
            </a:pPr>
            <a:r>
              <a:t>NeuroForge Enterprise SDLC Platform is an AI-powered Software Development Life Cycle (SDLC) platform that helps organizations manage the complete software development process in one integrated environment. It enables project managers, business analysts, developers, testers, DevOps engineers, and stakeholders to collaborate efficiently throughout the software lifecycle.</a:t>
            </a:r>
            <a:br/>
            <a:br/>
            <a:r>
              <a:t>Instead of using multiple disconnected tools for project management, coding, testing, deployment, and monitoring, NeuroForge provides a unified platform that integrates these activities while leveraging Artificial Intelligence to automate repetitive tasks and improve productivity.</a:t>
            </a:r>
          </a:p>
        </p:txBody>
      </p:sp>
      <p:sp>
        <p:nvSpPr>
          <p:cNvPr id="9" name="TextBox 8"/>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02 / 09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SOFTWARE DEVELOPMENT LIFE CYCLE (SDLC)</a:t>
            </a:r>
          </a:p>
        </p:txBody>
      </p:sp>
      <p:sp>
        <p:nvSpPr>
          <p:cNvPr id="5" name="Rounded Rectangle 4"/>
          <p:cNvSpPr/>
          <p:nvPr/>
        </p:nvSpPr>
        <p:spPr>
          <a:xfrm>
            <a:off x="685800" y="1234440"/>
            <a:ext cx="10835640" cy="141732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234440"/>
            <a:ext cx="64008" cy="141732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0392" y="1353312"/>
            <a:ext cx="1057960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Software Development Life Cycle (SDLC)</a:t>
            </a:r>
          </a:p>
        </p:txBody>
      </p:sp>
      <p:sp>
        <p:nvSpPr>
          <p:cNvPr id="8" name="TextBox 7"/>
          <p:cNvSpPr txBox="1"/>
          <p:nvPr/>
        </p:nvSpPr>
        <p:spPr>
          <a:xfrm>
            <a:off x="850392" y="1764792"/>
            <a:ext cx="10561320" cy="795528"/>
          </a:xfrm>
          <a:prstGeom prst="rect">
            <a:avLst/>
          </a:prstGeom>
          <a:noFill/>
        </p:spPr>
        <p:txBody>
          <a:bodyPr wrap="square" lIns="36576" rIns="36576" tIns="36576" bIns="36576" anchor="t">
            <a:spAutoFit/>
          </a:bodyPr>
          <a:lstStyle/>
          <a:p>
            <a:pPr algn="l">
              <a:defRPr sz="1200" b="0">
                <a:solidFill>
                  <a:srgbClr val="2D3A48"/>
                </a:solidFill>
                <a:latin typeface="Aptos"/>
              </a:defRPr>
            </a:pPr>
            <a:r>
              <a:t>The Software Development Life Cycle (SDLC) is a structured process used to design, develop, test, deploy, and maintain software efficiently. It provides a systematic approach that helps organizations deliver high-quality software on time, within budget, and with minimal risks.</a:t>
            </a:r>
          </a:p>
        </p:txBody>
      </p:sp>
      <p:sp>
        <p:nvSpPr>
          <p:cNvPr id="9" name="TextBox 8"/>
          <p:cNvSpPr txBox="1"/>
          <p:nvPr/>
        </p:nvSpPr>
        <p:spPr>
          <a:xfrm>
            <a:off x="731520" y="2880360"/>
            <a:ext cx="1828800" cy="274320"/>
          </a:xfrm>
          <a:prstGeom prst="rect">
            <a:avLst/>
          </a:prstGeom>
          <a:noFill/>
        </p:spPr>
        <p:txBody>
          <a:bodyPr wrap="square" lIns="36576" rIns="36576" tIns="36576" bIns="36576" anchor="t">
            <a:spAutoFit/>
          </a:bodyPr>
          <a:lstStyle/>
          <a:p>
            <a:pPr algn="l">
              <a:defRPr sz="1500" b="1">
                <a:solidFill>
                  <a:srgbClr val="238F97"/>
                </a:solidFill>
                <a:latin typeface="Aptos"/>
              </a:defRPr>
            </a:pPr>
            <a:r>
              <a:t>SDLC PHASES :</a:t>
            </a:r>
          </a:p>
        </p:txBody>
      </p:sp>
      <p:sp>
        <p:nvSpPr>
          <p:cNvPr id="10" name="TextBox 9"/>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03 / 09</a:t>
            </a:r>
          </a:p>
        </p:txBody>
      </p:sp>
      <p:pic>
        <p:nvPicPr>
          <p:cNvPr id="11" name="Picture 10" descr="image.png"/>
          <p:cNvPicPr>
            <a:picLocks noChangeAspect="1"/>
          </p:cNvPicPr>
          <p:nvPr/>
        </p:nvPicPr>
        <p:blipFill>
          <a:blip r:embed="rId2"/>
          <a:stretch>
            <a:fillRect/>
          </a:stretch>
        </p:blipFill>
        <p:spPr>
          <a:xfrm>
            <a:off x="1508760" y="3246120"/>
            <a:ext cx="9144000" cy="27432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WHY DO WE NEED NEUROFORGE?</a:t>
            </a:r>
          </a:p>
        </p:txBody>
      </p:sp>
      <p:sp>
        <p:nvSpPr>
          <p:cNvPr id="5" name="TextBox 4"/>
          <p:cNvSpPr txBox="1"/>
          <p:nvPr/>
        </p:nvSpPr>
        <p:spPr>
          <a:xfrm>
            <a:off x="713232" y="1143000"/>
            <a:ext cx="5486400" cy="274320"/>
          </a:xfrm>
          <a:prstGeom prst="rect">
            <a:avLst/>
          </a:prstGeom>
          <a:noFill/>
        </p:spPr>
        <p:txBody>
          <a:bodyPr wrap="square" lIns="36576" rIns="36576" tIns="36576" bIns="36576" anchor="t">
            <a:spAutoFit/>
          </a:bodyPr>
          <a:lstStyle/>
          <a:p>
            <a:pPr algn="l">
              <a:defRPr sz="1400" b="1">
                <a:solidFill>
                  <a:srgbClr val="238F97"/>
                </a:solidFill>
                <a:latin typeface="Aptos"/>
              </a:defRPr>
            </a:pPr>
            <a:r>
              <a:t>PROBLEMS WITH TRADITIONAL SOFTWARE DEVELOPMENT</a:t>
            </a:r>
          </a:p>
        </p:txBody>
      </p:sp>
      <p:sp>
        <p:nvSpPr>
          <p:cNvPr id="6" name="TextBox 5"/>
          <p:cNvSpPr txBox="1"/>
          <p:nvPr/>
        </p:nvSpPr>
        <p:spPr>
          <a:xfrm>
            <a:off x="822960" y="1554480"/>
            <a:ext cx="10607040" cy="4754880"/>
          </a:xfrm>
          <a:prstGeom prst="rect">
            <a:avLst/>
          </a:prstGeom>
          <a:noFill/>
        </p:spPr>
        <p:txBody>
          <a:bodyPr wrap="square" lIns="36576" rIns="36576" tIns="27432" bIns="27432">
            <a:spAutoFit/>
          </a:bodyPr>
          <a:lstStyle/>
          <a:p>
            <a:pPr>
              <a:spcAft>
                <a:spcPts val="800"/>
              </a:spcAft>
              <a:defRPr sz="1500">
                <a:solidFill>
                  <a:srgbClr val="2D3A48"/>
                </a:solidFill>
                <a:latin typeface="Aptos"/>
              </a:defRPr>
            </a:pPr>
            <a:r>
              <a:t>• Teams rely on multiple tools for project management, coding, testing, and documentation, leading to fragmented workflows and reduced collaboration.</a:t>
            </a:r>
          </a:p>
          <a:p>
            <a:pPr>
              <a:spcAft>
                <a:spcPts val="800"/>
              </a:spcAft>
              <a:defRPr sz="1500">
                <a:solidFill>
                  <a:srgbClr val="2D3A48"/>
                </a:solidFill>
                <a:latin typeface="Aptos"/>
              </a:defRPr>
            </a:pPr>
            <a:r>
              <a:t>• Poor communication between business teams, developers, and testers often results in misunderstandings, delays, and frequent rework.</a:t>
            </a:r>
          </a:p>
          <a:p>
            <a:pPr>
              <a:spcAft>
                <a:spcPts val="800"/>
              </a:spcAft>
              <a:defRPr sz="1500">
                <a:solidFill>
                  <a:srgbClr val="2D3A48"/>
                </a:solidFill>
                <a:latin typeface="Aptos"/>
              </a:defRPr>
            </a:pPr>
            <a:r>
              <a:t>• Documentation is created and updated manually, making it time-consuming and prone to becoming outdated.</a:t>
            </a:r>
          </a:p>
          <a:p>
            <a:pPr>
              <a:spcAft>
                <a:spcPts val="800"/>
              </a:spcAft>
              <a:defRPr sz="1500">
                <a:solidFill>
                  <a:srgbClr val="2D3A48"/>
                </a:solidFill>
                <a:latin typeface="Aptos"/>
              </a:defRPr>
            </a:pPr>
            <a:r>
              <a:t>• Manual testing increases the time required to identify defects, slowing down software releases and delivery.</a:t>
            </a:r>
          </a:p>
          <a:p>
            <a:pPr>
              <a:spcAft>
                <a:spcPts val="800"/>
              </a:spcAft>
              <a:defRPr sz="1500">
                <a:solidFill>
                  <a:srgbClr val="2D3A48"/>
                </a:solidFill>
                <a:latin typeface="Aptos"/>
              </a:defRPr>
            </a:pPr>
            <a:r>
              <a:t>• Without automated code reviews, coding errors and security vulnerabilities may remain undetected until later stages.</a:t>
            </a:r>
          </a:p>
          <a:p>
            <a:pPr>
              <a:spcAft>
                <a:spcPts val="800"/>
              </a:spcAft>
              <a:defRPr sz="1500">
                <a:solidFill>
                  <a:srgbClr val="2D3A48"/>
                </a:solidFill>
                <a:latin typeface="Aptos"/>
              </a:defRPr>
            </a:pPr>
            <a:r>
              <a:t>• Managers often lack real-time visibility into project progress, resource allocation, and overall team productivity.</a:t>
            </a:r>
          </a:p>
        </p:txBody>
      </p:sp>
      <p:sp>
        <p:nvSpPr>
          <p:cNvPr id="7" name="TextBox 6"/>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04 / 09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WHY DO WE NEED NEUROFORGE?</a:t>
            </a:r>
          </a:p>
        </p:txBody>
      </p:sp>
      <p:sp>
        <p:nvSpPr>
          <p:cNvPr id="5" name="TextBox 4"/>
          <p:cNvSpPr txBox="1"/>
          <p:nvPr/>
        </p:nvSpPr>
        <p:spPr>
          <a:xfrm>
            <a:off x="713232" y="1143000"/>
            <a:ext cx="4572000" cy="274320"/>
          </a:xfrm>
          <a:prstGeom prst="rect">
            <a:avLst/>
          </a:prstGeom>
          <a:noFill/>
        </p:spPr>
        <p:txBody>
          <a:bodyPr wrap="square" lIns="36576" rIns="36576" tIns="36576" bIns="36576" anchor="t">
            <a:spAutoFit/>
          </a:bodyPr>
          <a:lstStyle/>
          <a:p>
            <a:pPr algn="l">
              <a:defRPr sz="1400" b="1">
                <a:solidFill>
                  <a:srgbClr val="238F97"/>
                </a:solidFill>
                <a:latin typeface="Aptos"/>
              </a:defRPr>
            </a:pPr>
            <a:r>
              <a:t>OBJECTIVES OF NEUROFORGE</a:t>
            </a:r>
          </a:p>
        </p:txBody>
      </p:sp>
      <p:sp>
        <p:nvSpPr>
          <p:cNvPr id="6" name="TextBox 5"/>
          <p:cNvSpPr txBox="1"/>
          <p:nvPr/>
        </p:nvSpPr>
        <p:spPr>
          <a:xfrm>
            <a:off x="822960" y="1572768"/>
            <a:ext cx="10607040" cy="4663440"/>
          </a:xfrm>
          <a:prstGeom prst="rect">
            <a:avLst/>
          </a:prstGeom>
          <a:noFill/>
        </p:spPr>
        <p:txBody>
          <a:bodyPr wrap="square" lIns="36576" rIns="36576" tIns="27432" bIns="27432">
            <a:spAutoFit/>
          </a:bodyPr>
          <a:lstStyle/>
          <a:p>
            <a:pPr>
              <a:spcAft>
                <a:spcPts val="800"/>
              </a:spcAft>
              <a:defRPr sz="1500">
                <a:solidFill>
                  <a:srgbClr val="2D3A48"/>
                </a:solidFill>
                <a:latin typeface="Aptos"/>
              </a:defRPr>
            </a:pPr>
            <a:r>
              <a:t>• Enables seamless communication and coordination between developers, testers, project managers, and stakeholders on a unified platform.</a:t>
            </a:r>
          </a:p>
          <a:p>
            <a:pPr>
              <a:spcAft>
                <a:spcPts val="800"/>
              </a:spcAft>
              <a:defRPr sz="1500">
                <a:solidFill>
                  <a:srgbClr val="2D3A48"/>
                </a:solidFill>
                <a:latin typeface="Aptos"/>
              </a:defRPr>
            </a:pPr>
            <a:r>
              <a:t>• Uses AI and automation to perform coding, testing, documentation, and deployment tasks, saving time and reducing manual effort.</a:t>
            </a:r>
          </a:p>
          <a:p>
            <a:pPr>
              <a:spcAft>
                <a:spcPts val="800"/>
              </a:spcAft>
              <a:defRPr sz="1500">
                <a:solidFill>
                  <a:srgbClr val="2D3A48"/>
                </a:solidFill>
                <a:latin typeface="Aptos"/>
              </a:defRPr>
            </a:pPr>
            <a:r>
              <a:t>• Improves code quality through automated testing, code reviews, and early detection of bugs and security vulnerabilities.</a:t>
            </a:r>
          </a:p>
          <a:p>
            <a:pPr>
              <a:spcAft>
                <a:spcPts val="800"/>
              </a:spcAft>
              <a:defRPr sz="1500">
                <a:solidFill>
                  <a:srgbClr val="2D3A48"/>
                </a:solidFill>
                <a:latin typeface="Aptos"/>
              </a:defRPr>
            </a:pPr>
            <a:r>
              <a:t>• Streamlines workflows and minimizes rework, enabling faster project completion while lowering overall development costs.</a:t>
            </a:r>
          </a:p>
          <a:p>
            <a:pPr>
              <a:spcAft>
                <a:spcPts val="800"/>
              </a:spcAft>
              <a:defRPr sz="1500">
                <a:solidFill>
                  <a:srgbClr val="2D3A48"/>
                </a:solidFill>
                <a:latin typeface="Aptos"/>
              </a:defRPr>
            </a:pPr>
            <a:r>
              <a:t>• Provides live insights into project progress, team performance, bug tracking, and development status for better decision-making.</a:t>
            </a:r>
          </a:p>
          <a:p>
            <a:pPr>
              <a:spcAft>
                <a:spcPts val="800"/>
              </a:spcAft>
              <a:defRPr sz="1500">
                <a:solidFill>
                  <a:srgbClr val="2D3A48"/>
                </a:solidFill>
                <a:latin typeface="Aptos"/>
              </a:defRPr>
            </a:pPr>
            <a:r>
              <a:t>• Integrates AI with CI/CD pipelines and DevOps tools to automate development and deliver software faster and more efficiently.</a:t>
            </a:r>
          </a:p>
        </p:txBody>
      </p:sp>
      <p:sp>
        <p:nvSpPr>
          <p:cNvPr id="7" name="TextBox 6"/>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05 / 09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CORE FEATURES AND FUNCTIONAL MODULES</a:t>
            </a:r>
          </a:p>
        </p:txBody>
      </p:sp>
      <p:sp>
        <p:nvSpPr>
          <p:cNvPr id="5" name="TextBox 4"/>
          <p:cNvSpPr txBox="1"/>
          <p:nvPr/>
        </p:nvSpPr>
        <p:spPr>
          <a:xfrm>
            <a:off x="731520" y="1115568"/>
            <a:ext cx="3657600" cy="274320"/>
          </a:xfrm>
          <a:prstGeom prst="rect">
            <a:avLst/>
          </a:prstGeom>
          <a:noFill/>
        </p:spPr>
        <p:txBody>
          <a:bodyPr wrap="square" lIns="36576" rIns="36576" tIns="36576" bIns="36576" anchor="t">
            <a:spAutoFit/>
          </a:bodyPr>
          <a:lstStyle/>
          <a:p>
            <a:pPr algn="l">
              <a:defRPr sz="1400" b="1">
                <a:solidFill>
                  <a:srgbClr val="238F97"/>
                </a:solidFill>
                <a:latin typeface="Aptos"/>
              </a:defRPr>
            </a:pPr>
            <a:r>
              <a:t>MAJOR FEATURES</a:t>
            </a:r>
          </a:p>
        </p:txBody>
      </p:sp>
      <p:sp>
        <p:nvSpPr>
          <p:cNvPr id="6" name="Rounded Rectangle 5"/>
          <p:cNvSpPr/>
          <p:nvPr/>
        </p:nvSpPr>
        <p:spPr>
          <a:xfrm>
            <a:off x="658368" y="1508760"/>
            <a:ext cx="5349240" cy="13258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08760"/>
            <a:ext cx="64008" cy="13258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627632"/>
            <a:ext cx="509320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Requirement Project Management</a:t>
            </a:r>
          </a:p>
        </p:txBody>
      </p:sp>
      <p:sp>
        <p:nvSpPr>
          <p:cNvPr id="9" name="TextBox 8"/>
          <p:cNvSpPr txBox="1"/>
          <p:nvPr/>
        </p:nvSpPr>
        <p:spPr>
          <a:xfrm>
            <a:off x="822960" y="2039112"/>
            <a:ext cx="5074920" cy="704088"/>
          </a:xfrm>
          <a:prstGeom prst="rect">
            <a:avLst/>
          </a:prstGeom>
          <a:noFill/>
        </p:spPr>
        <p:txBody>
          <a:bodyPr wrap="square" lIns="36576" rIns="36576" tIns="36576" bIns="36576" anchor="t">
            <a:spAutoFit/>
          </a:bodyPr>
          <a:lstStyle/>
          <a:p>
            <a:pPr algn="l">
              <a:defRPr sz="1100" b="0">
                <a:solidFill>
                  <a:srgbClr val="2D3A48"/>
                </a:solidFill>
                <a:latin typeface="Aptos"/>
              </a:defRPr>
            </a:pPr>
            <a:r>
              <a:t>• Requirement collection and tracking</a:t>
            </a:r>
            <a:br/>
            <a:r>
              <a:t>• User stories and sprint planning</a:t>
            </a:r>
            <a:br/>
            <a:r>
              <a:t>• Agile, Scrum, Kanban, and Waterfall support</a:t>
            </a:r>
          </a:p>
        </p:txBody>
      </p:sp>
      <p:sp>
        <p:nvSpPr>
          <p:cNvPr id="10" name="Rounded Rectangle 9"/>
          <p:cNvSpPr/>
          <p:nvPr/>
        </p:nvSpPr>
        <p:spPr>
          <a:xfrm>
            <a:off x="658368" y="3017520"/>
            <a:ext cx="5349240" cy="13258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017520"/>
            <a:ext cx="64008" cy="13258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3136392"/>
            <a:ext cx="509320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AI-Powered Development</a:t>
            </a:r>
          </a:p>
        </p:txBody>
      </p:sp>
      <p:sp>
        <p:nvSpPr>
          <p:cNvPr id="13" name="TextBox 12"/>
          <p:cNvSpPr txBox="1"/>
          <p:nvPr/>
        </p:nvSpPr>
        <p:spPr>
          <a:xfrm>
            <a:off x="822960" y="3547872"/>
            <a:ext cx="5074920" cy="704088"/>
          </a:xfrm>
          <a:prstGeom prst="rect">
            <a:avLst/>
          </a:prstGeom>
          <a:noFill/>
        </p:spPr>
        <p:txBody>
          <a:bodyPr wrap="square" lIns="36576" rIns="36576" tIns="36576" bIns="36576" anchor="t">
            <a:spAutoFit/>
          </a:bodyPr>
          <a:lstStyle/>
          <a:p>
            <a:pPr algn="l">
              <a:defRPr sz="1100" b="0">
                <a:solidFill>
                  <a:srgbClr val="2D3A48"/>
                </a:solidFill>
                <a:latin typeface="Aptos"/>
              </a:defRPr>
            </a:pPr>
            <a:r>
              <a:t>• AI-assisted requirement analysis</a:t>
            </a:r>
            <a:br/>
            <a:r>
              <a:t>• AI code generation</a:t>
            </a:r>
            <a:br/>
            <a:r>
              <a:t>• Automatic documentation</a:t>
            </a:r>
            <a:br/>
            <a:r>
              <a:t>• Intelligent code suggestions</a:t>
            </a:r>
          </a:p>
        </p:txBody>
      </p:sp>
      <p:sp>
        <p:nvSpPr>
          <p:cNvPr id="14" name="Rounded Rectangle 13"/>
          <p:cNvSpPr/>
          <p:nvPr/>
        </p:nvSpPr>
        <p:spPr>
          <a:xfrm>
            <a:off x="658368" y="4526280"/>
            <a:ext cx="5349240" cy="13258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4526280"/>
            <a:ext cx="64008" cy="13258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4645152"/>
            <a:ext cx="509320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Source Code Management</a:t>
            </a:r>
          </a:p>
        </p:txBody>
      </p:sp>
      <p:sp>
        <p:nvSpPr>
          <p:cNvPr id="17" name="TextBox 16"/>
          <p:cNvSpPr txBox="1"/>
          <p:nvPr/>
        </p:nvSpPr>
        <p:spPr>
          <a:xfrm>
            <a:off x="822960" y="5056632"/>
            <a:ext cx="5074920" cy="704088"/>
          </a:xfrm>
          <a:prstGeom prst="rect">
            <a:avLst/>
          </a:prstGeom>
          <a:noFill/>
        </p:spPr>
        <p:txBody>
          <a:bodyPr wrap="square" lIns="36576" rIns="36576" tIns="36576" bIns="36576" anchor="t">
            <a:spAutoFit/>
          </a:bodyPr>
          <a:lstStyle/>
          <a:p>
            <a:pPr algn="l">
              <a:defRPr sz="1100" b="0">
                <a:solidFill>
                  <a:srgbClr val="2D3A48"/>
                </a:solidFill>
                <a:latin typeface="Aptos"/>
              </a:defRPr>
            </a:pPr>
            <a:r>
              <a:t>• Git integration</a:t>
            </a:r>
            <a:br/>
            <a:r>
              <a:t>• Branch and version control</a:t>
            </a:r>
            <a:br/>
            <a:r>
              <a:t>• Pull requests and code reviews</a:t>
            </a:r>
          </a:p>
        </p:txBody>
      </p:sp>
      <p:sp>
        <p:nvSpPr>
          <p:cNvPr id="18" name="Rounded Rectangle 17"/>
          <p:cNvSpPr/>
          <p:nvPr/>
        </p:nvSpPr>
        <p:spPr>
          <a:xfrm>
            <a:off x="6144768" y="1508760"/>
            <a:ext cx="5349240" cy="169164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4768" y="1508760"/>
            <a:ext cx="64008" cy="169164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1627632"/>
            <a:ext cx="509320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Testing &amp; Quality Assurance</a:t>
            </a:r>
          </a:p>
        </p:txBody>
      </p:sp>
      <p:sp>
        <p:nvSpPr>
          <p:cNvPr id="21" name="TextBox 20"/>
          <p:cNvSpPr txBox="1"/>
          <p:nvPr/>
        </p:nvSpPr>
        <p:spPr>
          <a:xfrm>
            <a:off x="6309360" y="2039112"/>
            <a:ext cx="5074920" cy="1069848"/>
          </a:xfrm>
          <a:prstGeom prst="rect">
            <a:avLst/>
          </a:prstGeom>
          <a:noFill/>
        </p:spPr>
        <p:txBody>
          <a:bodyPr wrap="square" lIns="36576" rIns="36576" tIns="36576" bIns="36576" anchor="t">
            <a:spAutoFit/>
          </a:bodyPr>
          <a:lstStyle/>
          <a:p>
            <a:pPr algn="l">
              <a:defRPr sz="1100" b="0">
                <a:solidFill>
                  <a:srgbClr val="2D3A48"/>
                </a:solidFill>
                <a:latin typeface="Aptos"/>
              </a:defRPr>
            </a:pPr>
            <a:r>
              <a:t>• Unit, Integration, System, and Regression Testing</a:t>
            </a:r>
            <a:br/>
            <a:r>
              <a:t>• AI-generated test cases</a:t>
            </a:r>
            <a:br/>
            <a:r>
              <a:t>• Automated bug detection</a:t>
            </a:r>
            <a:br/>
            <a:r>
              <a:t>• Code quality analysis</a:t>
            </a:r>
          </a:p>
        </p:txBody>
      </p:sp>
      <p:sp>
        <p:nvSpPr>
          <p:cNvPr id="22" name="Rounded Rectangle 21"/>
          <p:cNvSpPr/>
          <p:nvPr/>
        </p:nvSpPr>
        <p:spPr>
          <a:xfrm>
            <a:off x="6144768" y="3383279"/>
            <a:ext cx="5349240" cy="169164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44768" y="3383279"/>
            <a:ext cx="64008" cy="169164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3502151"/>
            <a:ext cx="5093208" cy="384048"/>
          </a:xfrm>
          <a:prstGeom prst="rect">
            <a:avLst/>
          </a:prstGeom>
          <a:noFill/>
        </p:spPr>
        <p:txBody>
          <a:bodyPr wrap="square" lIns="36576" rIns="36576" tIns="36576" bIns="36576" anchor="t">
            <a:spAutoFit/>
          </a:bodyPr>
          <a:lstStyle/>
          <a:p>
            <a:pPr algn="l">
              <a:defRPr sz="1400" b="1">
                <a:solidFill>
                  <a:srgbClr val="14263F"/>
                </a:solidFill>
                <a:latin typeface="Aptos"/>
              </a:defRPr>
            </a:pPr>
            <a:r>
              <a:t>Deployment &amp; Monitoring</a:t>
            </a:r>
          </a:p>
        </p:txBody>
      </p:sp>
      <p:sp>
        <p:nvSpPr>
          <p:cNvPr id="25" name="TextBox 24"/>
          <p:cNvSpPr txBox="1"/>
          <p:nvPr/>
        </p:nvSpPr>
        <p:spPr>
          <a:xfrm>
            <a:off x="6309360" y="3913631"/>
            <a:ext cx="5074920" cy="1069848"/>
          </a:xfrm>
          <a:prstGeom prst="rect">
            <a:avLst/>
          </a:prstGeom>
          <a:noFill/>
        </p:spPr>
        <p:txBody>
          <a:bodyPr wrap="square" lIns="36576" rIns="36576" tIns="36576" bIns="36576" anchor="t">
            <a:spAutoFit/>
          </a:bodyPr>
          <a:lstStyle/>
          <a:p>
            <a:pPr algn="l">
              <a:defRPr sz="1100" b="0">
                <a:solidFill>
                  <a:srgbClr val="2D3A48"/>
                </a:solidFill>
                <a:latin typeface="Aptos"/>
              </a:defRPr>
            </a:pPr>
            <a:r>
              <a:t>• CI/CD automation</a:t>
            </a:r>
            <a:br/>
            <a:r>
              <a:t>• Cloud deployment</a:t>
            </a:r>
            <a:br/>
            <a:r>
              <a:t>• Real-time monitoring</a:t>
            </a:r>
            <a:br/>
            <a:r>
              <a:t>• Performance analytics</a:t>
            </a:r>
            <a:br/>
            <a:r>
              <a:t>• Log management</a:t>
            </a:r>
          </a:p>
        </p:txBody>
      </p:sp>
      <p:sp>
        <p:nvSpPr>
          <p:cNvPr id="26" name="TextBox 25"/>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06 / 09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BENEFITS OF NEUROFORGE</a:t>
            </a:r>
          </a:p>
        </p:txBody>
      </p:sp>
      <p:sp>
        <p:nvSpPr>
          <p:cNvPr id="5" name="Rounded Rectangle 4"/>
          <p:cNvSpPr/>
          <p:nvPr/>
        </p:nvSpPr>
        <p:spPr>
          <a:xfrm>
            <a:off x="658368" y="1234440"/>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234440"/>
            <a:ext cx="64008" cy="8686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353312"/>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Increased Productivity</a:t>
            </a:r>
          </a:p>
        </p:txBody>
      </p:sp>
      <p:sp>
        <p:nvSpPr>
          <p:cNvPr id="8" name="TextBox 7"/>
          <p:cNvSpPr txBox="1"/>
          <p:nvPr/>
        </p:nvSpPr>
        <p:spPr>
          <a:xfrm>
            <a:off x="822960" y="1764792"/>
            <a:ext cx="10561320" cy="246888"/>
          </a:xfrm>
          <a:prstGeom prst="rect">
            <a:avLst/>
          </a:prstGeom>
          <a:noFill/>
        </p:spPr>
        <p:txBody>
          <a:bodyPr wrap="square" lIns="36576" rIns="36576" tIns="36576" bIns="36576" anchor="t">
            <a:spAutoFit/>
          </a:bodyPr>
          <a:lstStyle/>
          <a:p>
            <a:pPr algn="l">
              <a:defRPr sz="1030" b="0">
                <a:solidFill>
                  <a:srgbClr val="2D3A48"/>
                </a:solidFill>
                <a:latin typeface="Aptos"/>
              </a:defRPr>
            </a:pPr>
            <a:r>
              <a:t>• Automates coding, testing, documentation, and deployment.</a:t>
            </a:r>
            <a:br/>
            <a:r>
              <a:t>• Allows developers to focus on innovation instead of repetitive tasks.</a:t>
            </a:r>
          </a:p>
        </p:txBody>
      </p:sp>
      <p:sp>
        <p:nvSpPr>
          <p:cNvPr id="9" name="Rounded Rectangle 8"/>
          <p:cNvSpPr/>
          <p:nvPr/>
        </p:nvSpPr>
        <p:spPr>
          <a:xfrm>
            <a:off x="658368" y="2221992"/>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221992"/>
            <a:ext cx="64008" cy="8686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340864"/>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Improved Collaboration</a:t>
            </a:r>
          </a:p>
        </p:txBody>
      </p:sp>
      <p:sp>
        <p:nvSpPr>
          <p:cNvPr id="12" name="TextBox 11"/>
          <p:cNvSpPr txBox="1"/>
          <p:nvPr/>
        </p:nvSpPr>
        <p:spPr>
          <a:xfrm>
            <a:off x="822960" y="2752344"/>
            <a:ext cx="10561320" cy="246888"/>
          </a:xfrm>
          <a:prstGeom prst="rect">
            <a:avLst/>
          </a:prstGeom>
          <a:noFill/>
        </p:spPr>
        <p:txBody>
          <a:bodyPr wrap="square" lIns="36576" rIns="36576" tIns="36576" bIns="36576" anchor="t">
            <a:spAutoFit/>
          </a:bodyPr>
          <a:lstStyle/>
          <a:p>
            <a:pPr algn="l">
              <a:defRPr sz="1030" b="0">
                <a:solidFill>
                  <a:srgbClr val="2D3A48"/>
                </a:solidFill>
                <a:latin typeface="Aptos"/>
              </a:defRPr>
            </a:pPr>
            <a:r>
              <a:t>• Provides a centralized platform where all teams work together.</a:t>
            </a:r>
            <a:br/>
            <a:r>
              <a:t>• Improves communication and requirement traceability.</a:t>
            </a:r>
          </a:p>
        </p:txBody>
      </p:sp>
      <p:sp>
        <p:nvSpPr>
          <p:cNvPr id="13" name="Rounded Rectangle 12"/>
          <p:cNvSpPr/>
          <p:nvPr/>
        </p:nvSpPr>
        <p:spPr>
          <a:xfrm>
            <a:off x="658368" y="3209544"/>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209544"/>
            <a:ext cx="64008" cy="86868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328416"/>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Faster Software Delivery</a:t>
            </a:r>
          </a:p>
        </p:txBody>
      </p:sp>
      <p:sp>
        <p:nvSpPr>
          <p:cNvPr id="16" name="TextBox 15"/>
          <p:cNvSpPr txBox="1"/>
          <p:nvPr/>
        </p:nvSpPr>
        <p:spPr>
          <a:xfrm>
            <a:off x="822960" y="3739896"/>
            <a:ext cx="10561320" cy="246888"/>
          </a:xfrm>
          <a:prstGeom prst="rect">
            <a:avLst/>
          </a:prstGeom>
          <a:noFill/>
        </p:spPr>
        <p:txBody>
          <a:bodyPr wrap="square" lIns="36576" rIns="36576" tIns="36576" bIns="36576" anchor="t">
            <a:spAutoFit/>
          </a:bodyPr>
          <a:lstStyle/>
          <a:p>
            <a:pPr algn="l">
              <a:defRPr sz="1030" b="0">
                <a:solidFill>
                  <a:srgbClr val="2D3A48"/>
                </a:solidFill>
                <a:latin typeface="Aptos"/>
              </a:defRPr>
            </a:pPr>
            <a:r>
              <a:t>• Continuous Integration and Continuous Deployment (CI/CD) reduce release time.</a:t>
            </a:r>
            <a:br/>
            <a:r>
              <a:t>• Automated workflows eliminate manual delays.</a:t>
            </a:r>
          </a:p>
        </p:txBody>
      </p:sp>
      <p:sp>
        <p:nvSpPr>
          <p:cNvPr id="17" name="Rounded Rectangle 16"/>
          <p:cNvSpPr/>
          <p:nvPr/>
        </p:nvSpPr>
        <p:spPr>
          <a:xfrm>
            <a:off x="658368" y="4197096"/>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4197096"/>
            <a:ext cx="64008" cy="86868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315968"/>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Better Software Quality</a:t>
            </a:r>
          </a:p>
        </p:txBody>
      </p:sp>
      <p:sp>
        <p:nvSpPr>
          <p:cNvPr id="20" name="TextBox 19"/>
          <p:cNvSpPr txBox="1"/>
          <p:nvPr/>
        </p:nvSpPr>
        <p:spPr>
          <a:xfrm>
            <a:off x="822960" y="4727448"/>
            <a:ext cx="10561320" cy="246888"/>
          </a:xfrm>
          <a:prstGeom prst="rect">
            <a:avLst/>
          </a:prstGeom>
          <a:noFill/>
        </p:spPr>
        <p:txBody>
          <a:bodyPr wrap="square" lIns="36576" rIns="36576" tIns="36576" bIns="36576" anchor="t">
            <a:spAutoFit/>
          </a:bodyPr>
          <a:lstStyle/>
          <a:p>
            <a:pPr algn="l">
              <a:defRPr sz="1030" b="0">
                <a:solidFill>
                  <a:srgbClr val="2D3A48"/>
                </a:solidFill>
                <a:latin typeface="Aptos"/>
              </a:defRPr>
            </a:pPr>
            <a:r>
              <a:t>• Automated testing and AI-based code reviews reduce bugs.</a:t>
            </a:r>
            <a:br/>
            <a:r>
              <a:t>• Security vulnerabilities are detected early.</a:t>
            </a:r>
          </a:p>
        </p:txBody>
      </p:sp>
      <p:sp>
        <p:nvSpPr>
          <p:cNvPr id="21" name="Rounded Rectangle 20"/>
          <p:cNvSpPr/>
          <p:nvPr/>
        </p:nvSpPr>
        <p:spPr>
          <a:xfrm>
            <a:off x="658368" y="5184648"/>
            <a:ext cx="10835640" cy="86868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5184648"/>
            <a:ext cx="64008" cy="86868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303520"/>
            <a:ext cx="10579608" cy="384048"/>
          </a:xfrm>
          <a:prstGeom prst="rect">
            <a:avLst/>
          </a:prstGeom>
          <a:noFill/>
        </p:spPr>
        <p:txBody>
          <a:bodyPr wrap="square" lIns="36576" rIns="36576" tIns="36576" bIns="36576" anchor="t">
            <a:spAutoFit/>
          </a:bodyPr>
          <a:lstStyle/>
          <a:p>
            <a:pPr algn="l">
              <a:defRPr sz="1300" b="1">
                <a:solidFill>
                  <a:srgbClr val="14263F"/>
                </a:solidFill>
                <a:latin typeface="Aptos"/>
              </a:defRPr>
            </a:pPr>
            <a:r>
              <a:t>Cost Reduction</a:t>
            </a:r>
          </a:p>
        </p:txBody>
      </p:sp>
      <p:sp>
        <p:nvSpPr>
          <p:cNvPr id="24" name="TextBox 23"/>
          <p:cNvSpPr txBox="1"/>
          <p:nvPr/>
        </p:nvSpPr>
        <p:spPr>
          <a:xfrm>
            <a:off x="822960" y="5715000"/>
            <a:ext cx="10561320" cy="246888"/>
          </a:xfrm>
          <a:prstGeom prst="rect">
            <a:avLst/>
          </a:prstGeom>
          <a:noFill/>
        </p:spPr>
        <p:txBody>
          <a:bodyPr wrap="square" lIns="36576" rIns="36576" tIns="36576" bIns="36576" anchor="t">
            <a:spAutoFit/>
          </a:bodyPr>
          <a:lstStyle/>
          <a:p>
            <a:pPr algn="l">
              <a:defRPr sz="1030" b="0">
                <a:solidFill>
                  <a:srgbClr val="2D3A48"/>
                </a:solidFill>
                <a:latin typeface="Aptos"/>
              </a:defRPr>
            </a:pPr>
            <a:r>
              <a:t>• Reduces rework and manual effort.</a:t>
            </a:r>
            <a:br/>
            <a:r>
              <a:t>• Minimizes tool licensing costs by integrating multiple services into one platform.</a:t>
            </a:r>
          </a:p>
        </p:txBody>
      </p:sp>
      <p:sp>
        <p:nvSpPr>
          <p:cNvPr id="25" name="TextBox 24"/>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07 / 09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58368" y="438912"/>
            <a:ext cx="10881360" cy="640080"/>
          </a:xfrm>
          <a:prstGeom prst="rect">
            <a:avLst/>
          </a:prstGeom>
          <a:noFill/>
        </p:spPr>
        <p:txBody>
          <a:bodyPr wrap="none">
            <a:spAutoFit/>
          </a:bodyPr>
          <a:lstStyle/>
          <a:p>
            <a:pPr>
              <a:defRPr b="1" sz="2800">
                <a:solidFill>
                  <a:srgbClr val="14263F"/>
                </a:solidFill>
                <a:latin typeface="Aptos Display"/>
              </a:defRPr>
            </a:pPr>
            <a:r>
              <a:t>TECHNOLOGY STACK</a:t>
            </a:r>
          </a:p>
        </p:txBody>
      </p:sp>
      <p:sp>
        <p:nvSpPr>
          <p:cNvPr id="5" name="Rounded Rectangle 4"/>
          <p:cNvSpPr/>
          <p:nvPr/>
        </p:nvSpPr>
        <p:spPr>
          <a:xfrm>
            <a:off x="502920" y="1417320"/>
            <a:ext cx="265176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417320"/>
            <a:ext cx="64008" cy="4343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536192"/>
            <a:ext cx="239572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Frontend</a:t>
            </a:r>
          </a:p>
        </p:txBody>
      </p:sp>
      <p:sp>
        <p:nvSpPr>
          <p:cNvPr id="8" name="TextBox 7"/>
          <p:cNvSpPr txBox="1"/>
          <p:nvPr/>
        </p:nvSpPr>
        <p:spPr>
          <a:xfrm>
            <a:off x="667512" y="1947672"/>
            <a:ext cx="2377440" cy="3721608"/>
          </a:xfrm>
          <a:prstGeom prst="rect">
            <a:avLst/>
          </a:prstGeom>
          <a:noFill/>
        </p:spPr>
        <p:txBody>
          <a:bodyPr wrap="square" lIns="36576" rIns="36576" tIns="36576" bIns="36576" anchor="t">
            <a:spAutoFit/>
          </a:bodyPr>
          <a:lstStyle/>
          <a:p>
            <a:pPr algn="l">
              <a:defRPr sz="1300" b="0">
                <a:solidFill>
                  <a:srgbClr val="2D3A48"/>
                </a:solidFill>
                <a:latin typeface="Aptos"/>
              </a:defRPr>
            </a:pPr>
            <a:r>
              <a:t>• React.js</a:t>
            </a:r>
            <a:br/>
            <a:r>
              <a:t>• Angular</a:t>
            </a:r>
            <a:br/>
            <a:r>
              <a:t>• Vue.js</a:t>
            </a:r>
            <a:br/>
            <a:r>
              <a:t>• HTML5</a:t>
            </a:r>
            <a:br/>
            <a:r>
              <a:t>• CSS3</a:t>
            </a:r>
            <a:br/>
            <a:r>
              <a:t>• TypeScript</a:t>
            </a:r>
          </a:p>
        </p:txBody>
      </p:sp>
      <p:sp>
        <p:nvSpPr>
          <p:cNvPr id="9" name="Rounded Rectangle 8"/>
          <p:cNvSpPr/>
          <p:nvPr/>
        </p:nvSpPr>
        <p:spPr>
          <a:xfrm>
            <a:off x="3383280" y="1417320"/>
            <a:ext cx="265176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83280" y="1417320"/>
            <a:ext cx="64008" cy="4343400"/>
          </a:xfrm>
          <a:prstGeom prst="rect">
            <a:avLst/>
          </a:prstGeom>
          <a:solidFill>
            <a:srgbClr val="2165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536192"/>
            <a:ext cx="239572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Backend</a:t>
            </a:r>
          </a:p>
        </p:txBody>
      </p:sp>
      <p:sp>
        <p:nvSpPr>
          <p:cNvPr id="12" name="TextBox 11"/>
          <p:cNvSpPr txBox="1"/>
          <p:nvPr/>
        </p:nvSpPr>
        <p:spPr>
          <a:xfrm>
            <a:off x="3547872" y="1947672"/>
            <a:ext cx="2377440" cy="3721608"/>
          </a:xfrm>
          <a:prstGeom prst="rect">
            <a:avLst/>
          </a:prstGeom>
          <a:noFill/>
        </p:spPr>
        <p:txBody>
          <a:bodyPr wrap="square" lIns="36576" rIns="36576" tIns="36576" bIns="36576" anchor="t">
            <a:spAutoFit/>
          </a:bodyPr>
          <a:lstStyle/>
          <a:p>
            <a:pPr algn="l">
              <a:defRPr sz="1300" b="0">
                <a:solidFill>
                  <a:srgbClr val="2D3A48"/>
                </a:solidFill>
                <a:latin typeface="Aptos"/>
              </a:defRPr>
            </a:pPr>
            <a:r>
              <a:t>• Java Spring Boot</a:t>
            </a:r>
            <a:br/>
            <a:r>
              <a:t>• Node.js</a:t>
            </a:r>
            <a:br/>
            <a:r>
              <a:t>• Python (FastAPI)</a:t>
            </a:r>
          </a:p>
        </p:txBody>
      </p:sp>
      <p:sp>
        <p:nvSpPr>
          <p:cNvPr id="13" name="Rounded Rectangle 12"/>
          <p:cNvSpPr/>
          <p:nvPr/>
        </p:nvSpPr>
        <p:spPr>
          <a:xfrm>
            <a:off x="6263640" y="1417320"/>
            <a:ext cx="265176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417320"/>
            <a:ext cx="64008" cy="4343400"/>
          </a:xfrm>
          <a:prstGeom prst="rect">
            <a:avLst/>
          </a:prstGeom>
          <a:solidFill>
            <a:srgbClr val="238F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1536192"/>
            <a:ext cx="239572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Database</a:t>
            </a:r>
          </a:p>
        </p:txBody>
      </p:sp>
      <p:sp>
        <p:nvSpPr>
          <p:cNvPr id="16" name="TextBox 15"/>
          <p:cNvSpPr txBox="1"/>
          <p:nvPr/>
        </p:nvSpPr>
        <p:spPr>
          <a:xfrm>
            <a:off x="6428232" y="1947672"/>
            <a:ext cx="2377440" cy="3721608"/>
          </a:xfrm>
          <a:prstGeom prst="rect">
            <a:avLst/>
          </a:prstGeom>
          <a:noFill/>
        </p:spPr>
        <p:txBody>
          <a:bodyPr wrap="square" lIns="36576" rIns="36576" tIns="36576" bIns="36576" anchor="t">
            <a:spAutoFit/>
          </a:bodyPr>
          <a:lstStyle/>
          <a:p>
            <a:pPr algn="l">
              <a:defRPr sz="1300" b="0">
                <a:solidFill>
                  <a:srgbClr val="2D3A48"/>
                </a:solidFill>
                <a:latin typeface="Aptos"/>
              </a:defRPr>
            </a:pPr>
            <a:r>
              <a:t>• PostgreSQL</a:t>
            </a:r>
            <a:br/>
            <a:r>
              <a:t>• MySQL</a:t>
            </a:r>
            <a:br/>
            <a:r>
              <a:t>• MongoDB</a:t>
            </a:r>
            <a:br/>
            <a:r>
              <a:t>• Redis</a:t>
            </a:r>
          </a:p>
        </p:txBody>
      </p:sp>
      <p:sp>
        <p:nvSpPr>
          <p:cNvPr id="17" name="Rounded Rectangle 16"/>
          <p:cNvSpPr/>
          <p:nvPr/>
        </p:nvSpPr>
        <p:spPr>
          <a:xfrm>
            <a:off x="9144000" y="1417320"/>
            <a:ext cx="2651760" cy="4343400"/>
          </a:xfrm>
          <a:prstGeom prst="roundRect">
            <a:avLst/>
          </a:prstGeom>
          <a:solidFill>
            <a:srgbClr val="FFFFFF"/>
          </a:solidFill>
          <a:ln w="12700">
            <a:solidFill>
              <a:srgbClr val="E2EA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1417320"/>
            <a:ext cx="64008" cy="43434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08592" y="1536192"/>
            <a:ext cx="2395728" cy="384048"/>
          </a:xfrm>
          <a:prstGeom prst="rect">
            <a:avLst/>
          </a:prstGeom>
          <a:noFill/>
        </p:spPr>
        <p:txBody>
          <a:bodyPr wrap="square" lIns="36576" rIns="36576" tIns="36576" bIns="36576" anchor="t">
            <a:spAutoFit/>
          </a:bodyPr>
          <a:lstStyle/>
          <a:p>
            <a:pPr algn="l">
              <a:defRPr sz="1500" b="1">
                <a:solidFill>
                  <a:srgbClr val="14263F"/>
                </a:solidFill>
                <a:latin typeface="Aptos"/>
              </a:defRPr>
            </a:pPr>
            <a:r>
              <a:t>DevOps &amp; Cloud</a:t>
            </a:r>
          </a:p>
        </p:txBody>
      </p:sp>
      <p:sp>
        <p:nvSpPr>
          <p:cNvPr id="20" name="TextBox 19"/>
          <p:cNvSpPr txBox="1"/>
          <p:nvPr/>
        </p:nvSpPr>
        <p:spPr>
          <a:xfrm>
            <a:off x="9308592" y="1947672"/>
            <a:ext cx="2377440" cy="3721608"/>
          </a:xfrm>
          <a:prstGeom prst="rect">
            <a:avLst/>
          </a:prstGeom>
          <a:noFill/>
        </p:spPr>
        <p:txBody>
          <a:bodyPr wrap="square" lIns="36576" rIns="36576" tIns="36576" bIns="36576" anchor="t">
            <a:spAutoFit/>
          </a:bodyPr>
          <a:lstStyle/>
          <a:p>
            <a:pPr algn="l">
              <a:defRPr sz="1300" b="0">
                <a:solidFill>
                  <a:srgbClr val="2D3A48"/>
                </a:solidFill>
                <a:latin typeface="Aptos"/>
              </a:defRPr>
            </a:pPr>
            <a:r>
              <a:t>• Git, GitHub, GitLab</a:t>
            </a:r>
            <a:br/>
            <a:r>
              <a:t>• Docker</a:t>
            </a:r>
            <a:br/>
            <a:r>
              <a:t>• AWS</a:t>
            </a:r>
          </a:p>
        </p:txBody>
      </p:sp>
      <p:sp>
        <p:nvSpPr>
          <p:cNvPr id="21" name="TextBox 20"/>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08 / 09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27B5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228600"/>
            <a:ext cx="11201400" cy="32004"/>
          </a:xfrm>
          <a:prstGeom prst="rect">
            <a:avLst/>
          </a:prstGeom>
          <a:solidFill>
            <a:srgbClr val="E2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40280"/>
            <a:ext cx="10332720" cy="640080"/>
          </a:xfrm>
          <a:prstGeom prst="rect">
            <a:avLst/>
          </a:prstGeom>
          <a:noFill/>
        </p:spPr>
        <p:txBody>
          <a:bodyPr wrap="square" lIns="36576" rIns="36576" tIns="36576" bIns="36576" anchor="t">
            <a:spAutoFit/>
          </a:bodyPr>
          <a:lstStyle/>
          <a:p>
            <a:pPr algn="ctr">
              <a:defRPr sz="4000" b="1">
                <a:solidFill>
                  <a:srgbClr val="14263F"/>
                </a:solidFill>
                <a:latin typeface="Aptos"/>
              </a:defRPr>
            </a:pPr>
            <a:r>
              <a:t>THANK YOU</a:t>
            </a:r>
          </a:p>
        </p:txBody>
      </p:sp>
      <p:sp>
        <p:nvSpPr>
          <p:cNvPr id="5" name="TextBox 4"/>
          <p:cNvSpPr txBox="1"/>
          <p:nvPr/>
        </p:nvSpPr>
        <p:spPr>
          <a:xfrm>
            <a:off x="914400" y="2971800"/>
            <a:ext cx="10332720" cy="594360"/>
          </a:xfrm>
          <a:prstGeom prst="rect">
            <a:avLst/>
          </a:prstGeom>
          <a:noFill/>
        </p:spPr>
        <p:txBody>
          <a:bodyPr wrap="square" lIns="36576" rIns="36576" tIns="36576" bIns="36576" anchor="t">
            <a:spAutoFit/>
          </a:bodyPr>
          <a:lstStyle/>
          <a:p>
            <a:pPr algn="ctr">
              <a:defRPr sz="3000" b="1">
                <a:solidFill>
                  <a:srgbClr val="2165AC"/>
                </a:solidFill>
                <a:latin typeface="Aptos"/>
              </a:defRPr>
            </a:pPr>
            <a:r>
              <a:t>VERY MUCH</a:t>
            </a:r>
          </a:p>
        </p:txBody>
      </p:sp>
      <p:sp>
        <p:nvSpPr>
          <p:cNvPr id="6" name="TextBox 5"/>
          <p:cNvSpPr txBox="1"/>
          <p:nvPr/>
        </p:nvSpPr>
        <p:spPr>
          <a:xfrm>
            <a:off x="914400" y="3794760"/>
            <a:ext cx="10332720" cy="320040"/>
          </a:xfrm>
          <a:prstGeom prst="rect">
            <a:avLst/>
          </a:prstGeom>
          <a:noFill/>
        </p:spPr>
        <p:txBody>
          <a:bodyPr wrap="square" lIns="36576" rIns="36576" tIns="36576" bIns="36576" anchor="t">
            <a:spAutoFit/>
          </a:bodyPr>
          <a:lstStyle/>
          <a:p>
            <a:pPr algn="ctr">
              <a:defRPr sz="1400" b="1">
                <a:solidFill>
                  <a:srgbClr val="238F97"/>
                </a:solidFill>
                <a:latin typeface="Aptos"/>
              </a:defRPr>
            </a:pPr>
            <a:r>
              <a:t>Mannuru Prethika</a:t>
            </a:r>
          </a:p>
        </p:txBody>
      </p:sp>
      <p:sp>
        <p:nvSpPr>
          <p:cNvPr id="7" name="TextBox 6"/>
          <p:cNvSpPr txBox="1"/>
          <p:nvPr/>
        </p:nvSpPr>
        <p:spPr>
          <a:xfrm>
            <a:off x="10789920" y="6510528"/>
            <a:ext cx="914400" cy="201168"/>
          </a:xfrm>
          <a:prstGeom prst="rect">
            <a:avLst/>
          </a:prstGeom>
          <a:noFill/>
        </p:spPr>
        <p:txBody>
          <a:bodyPr wrap="none">
            <a:spAutoFit/>
          </a:bodyPr>
          <a:lstStyle/>
          <a:p>
            <a:pPr algn="r">
              <a:defRPr sz="900">
                <a:solidFill>
                  <a:srgbClr val="647180"/>
                </a:solidFill>
                <a:latin typeface="Aptos"/>
              </a:defRPr>
            </a:pPr>
            <a: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