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52560" y="640080"/>
            <a:ext cx="2194560" cy="2194560"/>
          </a:xfrm>
          <a:prstGeom prst="ellipse">
            <a:avLst/>
          </a:prstGeom>
          <a:solidFill>
            <a:srgbClr val="EC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84080" y="1234440"/>
            <a:ext cx="1371600" cy="1371600"/>
          </a:xfrm>
          <a:prstGeom prst="ellipse">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143000"/>
            <a:ext cx="8046720" cy="502920"/>
          </a:xfrm>
          <a:prstGeom prst="rect">
            <a:avLst/>
          </a:prstGeom>
          <a:noFill/>
        </p:spPr>
        <p:txBody>
          <a:bodyPr wrap="square" lIns="36576" rIns="36576" tIns="36576" bIns="36576" anchor="t">
            <a:spAutoFit/>
          </a:bodyPr>
          <a:lstStyle/>
          <a:p>
            <a:pPr algn="l">
              <a:defRPr sz="3000" b="1">
                <a:solidFill>
                  <a:srgbClr val="14263F"/>
                </a:solidFill>
                <a:latin typeface="Aptos"/>
              </a:defRPr>
            </a:pPr>
            <a:r>
              <a:t>NEUROFORGE ENTERPRISE</a:t>
            </a:r>
          </a:p>
        </p:txBody>
      </p:sp>
      <p:sp>
        <p:nvSpPr>
          <p:cNvPr id="7" name="TextBox 6"/>
          <p:cNvSpPr txBox="1"/>
          <p:nvPr/>
        </p:nvSpPr>
        <p:spPr>
          <a:xfrm>
            <a:off x="822960" y="1664208"/>
            <a:ext cx="8046720" cy="685800"/>
          </a:xfrm>
          <a:prstGeom prst="rect">
            <a:avLst/>
          </a:prstGeom>
          <a:noFill/>
        </p:spPr>
        <p:txBody>
          <a:bodyPr wrap="square" lIns="36576" rIns="36576" tIns="36576" bIns="36576" anchor="t">
            <a:spAutoFit/>
          </a:bodyPr>
          <a:lstStyle/>
          <a:p>
            <a:pPr algn="l">
              <a:defRPr sz="3600" b="1">
                <a:solidFill>
                  <a:srgbClr val="2165AC"/>
                </a:solidFill>
                <a:latin typeface="Aptos"/>
              </a:defRPr>
            </a:pPr>
            <a:r>
              <a:t>SDLC PLATFORM</a:t>
            </a:r>
          </a:p>
        </p:txBody>
      </p:sp>
      <p:sp>
        <p:nvSpPr>
          <p:cNvPr id="8" name="TextBox 7"/>
          <p:cNvSpPr txBox="1"/>
          <p:nvPr/>
        </p:nvSpPr>
        <p:spPr>
          <a:xfrm>
            <a:off x="822960" y="2880360"/>
            <a:ext cx="3200400" cy="320040"/>
          </a:xfrm>
          <a:prstGeom prst="rect">
            <a:avLst/>
          </a:prstGeom>
          <a:noFill/>
        </p:spPr>
        <p:txBody>
          <a:bodyPr wrap="square" lIns="36576" rIns="36576" tIns="36576" bIns="36576" anchor="t">
            <a:spAutoFit/>
          </a:bodyPr>
          <a:lstStyle/>
          <a:p>
            <a:pPr algn="l">
              <a:defRPr sz="1600" b="1">
                <a:solidFill>
                  <a:srgbClr val="238F97"/>
                </a:solidFill>
                <a:latin typeface="Aptos"/>
              </a:defRPr>
            </a:pPr>
            <a:r>
              <a:t>PROJECT MODULES</a:t>
            </a:r>
          </a:p>
        </p:txBody>
      </p:sp>
      <p:sp>
        <p:nvSpPr>
          <p:cNvPr id="9" name="TextBox 8"/>
          <p:cNvSpPr txBox="1"/>
          <p:nvPr/>
        </p:nvSpPr>
        <p:spPr>
          <a:xfrm>
            <a:off x="822960" y="4983480"/>
            <a:ext cx="3840480" cy="274320"/>
          </a:xfrm>
          <a:prstGeom prst="rect">
            <a:avLst/>
          </a:prstGeom>
          <a:noFill/>
        </p:spPr>
        <p:txBody>
          <a:bodyPr wrap="square" lIns="36576" rIns="36576" tIns="36576" bIns="36576" anchor="t">
            <a:spAutoFit/>
          </a:bodyPr>
          <a:lstStyle/>
          <a:p>
            <a:pPr algn="l">
              <a:defRPr sz="1100" b="1">
                <a:solidFill>
                  <a:srgbClr val="647180"/>
                </a:solidFill>
                <a:latin typeface="Aptos"/>
              </a:defRPr>
            </a:pPr>
            <a:r>
              <a:t>PRESENTED BY :</a:t>
            </a:r>
          </a:p>
        </p:txBody>
      </p:sp>
      <p:sp>
        <p:nvSpPr>
          <p:cNvPr id="10" name="TextBox 9"/>
          <p:cNvSpPr txBox="1"/>
          <p:nvPr/>
        </p:nvSpPr>
        <p:spPr>
          <a:xfrm>
            <a:off x="822960" y="5285232"/>
            <a:ext cx="4846320" cy="411480"/>
          </a:xfrm>
          <a:prstGeom prst="rect">
            <a:avLst/>
          </a:prstGeom>
          <a:noFill/>
        </p:spPr>
        <p:txBody>
          <a:bodyPr wrap="square" lIns="36576" rIns="36576" tIns="36576" bIns="36576" anchor="t">
            <a:spAutoFit/>
          </a:bodyPr>
          <a:lstStyle/>
          <a:p>
            <a:pPr algn="l">
              <a:defRPr sz="2000" b="1">
                <a:solidFill>
                  <a:srgbClr val="14263F"/>
                </a:solidFill>
                <a:latin typeface="Aptos"/>
              </a:defRPr>
            </a:pPr>
            <a:r>
              <a:t>Mannuru Prethika</a:t>
            </a:r>
          </a:p>
        </p:txBody>
      </p:sp>
      <p:sp>
        <p:nvSpPr>
          <p:cNvPr id="11" name="TextBox 10"/>
          <p:cNvSpPr txBox="1"/>
          <p:nvPr/>
        </p:nvSpPr>
        <p:spPr>
          <a:xfrm>
            <a:off x="822960" y="5870448"/>
            <a:ext cx="2743200" cy="274320"/>
          </a:xfrm>
          <a:prstGeom prst="rect">
            <a:avLst/>
          </a:prstGeom>
          <a:noFill/>
        </p:spPr>
        <p:txBody>
          <a:bodyPr wrap="square" lIns="36576" rIns="36576" tIns="36576" bIns="36576" anchor="t">
            <a:spAutoFit/>
          </a:bodyPr>
          <a:lstStyle/>
          <a:p>
            <a:pPr algn="l">
              <a:defRPr sz="1100" b="0">
                <a:solidFill>
                  <a:srgbClr val="647180"/>
                </a:solidFill>
                <a:latin typeface="Aptos"/>
              </a:defRPr>
            </a:pPr>
            <a:r>
              <a:t>July 29, 2026</a:t>
            </a:r>
          </a:p>
        </p:txBody>
      </p:sp>
      <p:sp>
        <p:nvSpPr>
          <p:cNvPr id="12" name="TextBox 11"/>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01 /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DEVELOPMENT METHODOLOGY: AGILE</a:t>
            </a:r>
          </a:p>
        </p:txBody>
      </p:sp>
      <p:sp>
        <p:nvSpPr>
          <p:cNvPr id="5" name="Rounded Rectangle 4"/>
          <p:cNvSpPr/>
          <p:nvPr/>
        </p:nvSpPr>
        <p:spPr>
          <a:xfrm>
            <a:off x="685800" y="1325880"/>
            <a:ext cx="2743200" cy="425196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64008" cy="425196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444752"/>
            <a:ext cx="2487168" cy="384048"/>
          </a:xfrm>
          <a:prstGeom prst="rect">
            <a:avLst/>
          </a:prstGeom>
          <a:noFill/>
        </p:spPr>
        <p:txBody>
          <a:bodyPr wrap="square" lIns="36576" rIns="36576" tIns="36576" bIns="36576" anchor="t">
            <a:spAutoFit/>
          </a:bodyPr>
          <a:lstStyle/>
          <a:p>
            <a:pPr algn="l">
              <a:defRPr sz="1700" b="1">
                <a:solidFill>
                  <a:srgbClr val="14263F"/>
                </a:solidFill>
                <a:latin typeface="Aptos"/>
              </a:defRPr>
            </a:pPr>
            <a:r>
              <a:t>Sprint Planning</a:t>
            </a:r>
          </a:p>
        </p:txBody>
      </p:sp>
      <p:sp>
        <p:nvSpPr>
          <p:cNvPr id="8" name="TextBox 7"/>
          <p:cNvSpPr txBox="1"/>
          <p:nvPr/>
        </p:nvSpPr>
        <p:spPr>
          <a:xfrm>
            <a:off x="850392" y="1856232"/>
            <a:ext cx="2468880" cy="3630168"/>
          </a:xfrm>
          <a:prstGeom prst="rect">
            <a:avLst/>
          </a:prstGeom>
          <a:noFill/>
        </p:spPr>
        <p:txBody>
          <a:bodyPr wrap="square" lIns="36576" rIns="36576" tIns="36576" bIns="36576" anchor="t">
            <a:spAutoFit/>
          </a:bodyPr>
          <a:lstStyle/>
          <a:p>
            <a:pPr algn="l">
              <a:defRPr sz="1250" b="0">
                <a:solidFill>
                  <a:srgbClr val="2D3A48"/>
                </a:solidFill>
                <a:latin typeface="Aptos"/>
              </a:defRPr>
            </a:pPr>
            <a:r>
              <a:t>The NeuroForge Enterprise SDLC Platform will be developed using the Agile Software Development Methodology, which emphasizes iterative development, continuous collaboration, and frequent delivery of working software. Instead of building the entire system at once, the project is divided into 4 sprints, with each sprint lasting 2 weeks. At the end of every sprint, a functional module is completed, tested, reviewed, and improved based on stakeholder feedback.</a:t>
            </a:r>
          </a:p>
        </p:txBody>
      </p:sp>
      <p:sp>
        <p:nvSpPr>
          <p:cNvPr id="9" name="Rounded Rectangle 8"/>
          <p:cNvSpPr/>
          <p:nvPr/>
        </p:nvSpPr>
        <p:spPr>
          <a:xfrm>
            <a:off x="3703320" y="1325880"/>
            <a:ext cx="2331720" cy="123444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703320" y="1325880"/>
            <a:ext cx="64008" cy="123444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67912" y="1444752"/>
            <a:ext cx="207568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Project Duration</a:t>
            </a:r>
          </a:p>
        </p:txBody>
      </p:sp>
      <p:sp>
        <p:nvSpPr>
          <p:cNvPr id="12" name="TextBox 11"/>
          <p:cNvSpPr txBox="1"/>
          <p:nvPr/>
        </p:nvSpPr>
        <p:spPr>
          <a:xfrm>
            <a:off x="3867912" y="1856232"/>
            <a:ext cx="2057400" cy="612648"/>
          </a:xfrm>
          <a:prstGeom prst="rect">
            <a:avLst/>
          </a:prstGeom>
          <a:noFill/>
        </p:spPr>
        <p:txBody>
          <a:bodyPr wrap="square" lIns="36576" rIns="36576" tIns="36576" bIns="36576" anchor="t">
            <a:spAutoFit/>
          </a:bodyPr>
          <a:lstStyle/>
          <a:p>
            <a:pPr algn="l">
              <a:defRPr sz="1700" b="0">
                <a:solidFill>
                  <a:srgbClr val="2D3A48"/>
                </a:solidFill>
                <a:latin typeface="Aptos"/>
              </a:defRPr>
            </a:pPr>
            <a:r>
              <a:t>8 Weeks</a:t>
            </a:r>
          </a:p>
        </p:txBody>
      </p:sp>
      <p:sp>
        <p:nvSpPr>
          <p:cNvPr id="13" name="Rounded Rectangle 12"/>
          <p:cNvSpPr/>
          <p:nvPr/>
        </p:nvSpPr>
        <p:spPr>
          <a:xfrm>
            <a:off x="6263640" y="1325880"/>
            <a:ext cx="2331720" cy="123444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325880"/>
            <a:ext cx="64008" cy="123444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444752"/>
            <a:ext cx="207568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Sprint Duration</a:t>
            </a:r>
          </a:p>
        </p:txBody>
      </p:sp>
      <p:sp>
        <p:nvSpPr>
          <p:cNvPr id="16" name="TextBox 15"/>
          <p:cNvSpPr txBox="1"/>
          <p:nvPr/>
        </p:nvSpPr>
        <p:spPr>
          <a:xfrm>
            <a:off x="6428232" y="1856232"/>
            <a:ext cx="2057400" cy="612648"/>
          </a:xfrm>
          <a:prstGeom prst="rect">
            <a:avLst/>
          </a:prstGeom>
          <a:noFill/>
        </p:spPr>
        <p:txBody>
          <a:bodyPr wrap="square" lIns="36576" rIns="36576" tIns="36576" bIns="36576" anchor="t">
            <a:spAutoFit/>
          </a:bodyPr>
          <a:lstStyle/>
          <a:p>
            <a:pPr algn="l">
              <a:defRPr sz="1700" b="0">
                <a:solidFill>
                  <a:srgbClr val="2D3A48"/>
                </a:solidFill>
                <a:latin typeface="Aptos"/>
              </a:defRPr>
            </a:pPr>
            <a:r>
              <a:t>2 Weeks</a:t>
            </a:r>
          </a:p>
        </p:txBody>
      </p:sp>
      <p:sp>
        <p:nvSpPr>
          <p:cNvPr id="17" name="Rounded Rectangle 16"/>
          <p:cNvSpPr/>
          <p:nvPr/>
        </p:nvSpPr>
        <p:spPr>
          <a:xfrm>
            <a:off x="8823960" y="1325880"/>
            <a:ext cx="2331720" cy="123444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23960" y="1325880"/>
            <a:ext cx="64008" cy="123444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88552" y="1444752"/>
            <a:ext cx="207568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Total Sprints</a:t>
            </a:r>
          </a:p>
        </p:txBody>
      </p:sp>
      <p:sp>
        <p:nvSpPr>
          <p:cNvPr id="20" name="TextBox 19"/>
          <p:cNvSpPr txBox="1"/>
          <p:nvPr/>
        </p:nvSpPr>
        <p:spPr>
          <a:xfrm>
            <a:off x="8988552" y="1856232"/>
            <a:ext cx="2057400" cy="612648"/>
          </a:xfrm>
          <a:prstGeom prst="rect">
            <a:avLst/>
          </a:prstGeom>
          <a:noFill/>
        </p:spPr>
        <p:txBody>
          <a:bodyPr wrap="square" lIns="36576" rIns="36576" tIns="36576" bIns="36576" anchor="t">
            <a:spAutoFit/>
          </a:bodyPr>
          <a:lstStyle/>
          <a:p>
            <a:pPr algn="l">
              <a:defRPr sz="1700" b="0">
                <a:solidFill>
                  <a:srgbClr val="2D3A48"/>
                </a:solidFill>
                <a:latin typeface="Aptos"/>
              </a:defRPr>
            </a:pPr>
            <a:r>
              <a:t>4</a:t>
            </a:r>
          </a:p>
        </p:txBody>
      </p:sp>
      <p:sp>
        <p:nvSpPr>
          <p:cNvPr id="21" name="Rounded Rectangle 20"/>
          <p:cNvSpPr/>
          <p:nvPr/>
        </p:nvSpPr>
        <p:spPr>
          <a:xfrm>
            <a:off x="3703320" y="2971800"/>
            <a:ext cx="1261872" cy="658368"/>
          </a:xfrm>
          <a:prstGeom prst="roundRect">
            <a:avLst/>
          </a:prstGeom>
          <a:solidFill>
            <a:srgbClr val="ECF6F9"/>
          </a:solidFill>
          <a:ln>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0" y="3127248"/>
            <a:ext cx="1170432" cy="228600"/>
          </a:xfrm>
          <a:prstGeom prst="rect">
            <a:avLst/>
          </a:prstGeom>
          <a:noFill/>
        </p:spPr>
        <p:txBody>
          <a:bodyPr wrap="square" lIns="36576" rIns="36576" tIns="36576" bIns="36576" anchor="t">
            <a:spAutoFit/>
          </a:bodyPr>
          <a:lstStyle/>
          <a:p>
            <a:pPr algn="ctr">
              <a:defRPr sz="1100" b="1">
                <a:solidFill>
                  <a:srgbClr val="14263F"/>
                </a:solidFill>
                <a:latin typeface="Aptos"/>
              </a:defRPr>
            </a:pPr>
            <a:r>
              <a:t>Plan</a:t>
            </a:r>
          </a:p>
        </p:txBody>
      </p:sp>
      <p:sp>
        <p:nvSpPr>
          <p:cNvPr id="23" name="TextBox 22"/>
          <p:cNvSpPr txBox="1"/>
          <p:nvPr/>
        </p:nvSpPr>
        <p:spPr>
          <a:xfrm>
            <a:off x="4965192" y="3118104"/>
            <a:ext cx="292608" cy="228600"/>
          </a:xfrm>
          <a:prstGeom prst="rect">
            <a:avLst/>
          </a:prstGeom>
          <a:noFill/>
        </p:spPr>
        <p:txBody>
          <a:bodyPr wrap="square" lIns="36576" rIns="36576" tIns="36576" bIns="36576" anchor="t">
            <a:spAutoFit/>
          </a:bodyPr>
          <a:lstStyle/>
          <a:p>
            <a:pPr algn="ctr">
              <a:defRPr sz="1400" b="1">
                <a:solidFill>
                  <a:srgbClr val="27B5C9"/>
                </a:solidFill>
                <a:latin typeface="Aptos"/>
              </a:defRPr>
            </a:pPr>
            <a:r>
              <a:t>→</a:t>
            </a:r>
          </a:p>
        </p:txBody>
      </p:sp>
      <p:sp>
        <p:nvSpPr>
          <p:cNvPr id="24" name="Rounded Rectangle 23"/>
          <p:cNvSpPr/>
          <p:nvPr/>
        </p:nvSpPr>
        <p:spPr>
          <a:xfrm>
            <a:off x="5276088" y="2971800"/>
            <a:ext cx="1261872" cy="658368"/>
          </a:xfrm>
          <a:prstGeom prst="roundRect">
            <a:avLst/>
          </a:prstGeom>
          <a:solidFill>
            <a:srgbClr val="ECF6F9"/>
          </a:solidFill>
          <a:ln>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21808" y="3127248"/>
            <a:ext cx="1170432" cy="228600"/>
          </a:xfrm>
          <a:prstGeom prst="rect">
            <a:avLst/>
          </a:prstGeom>
          <a:noFill/>
        </p:spPr>
        <p:txBody>
          <a:bodyPr wrap="square" lIns="36576" rIns="36576" tIns="36576" bIns="36576" anchor="t">
            <a:spAutoFit/>
          </a:bodyPr>
          <a:lstStyle/>
          <a:p>
            <a:pPr algn="ctr">
              <a:defRPr sz="1100" b="1">
                <a:solidFill>
                  <a:srgbClr val="14263F"/>
                </a:solidFill>
                <a:latin typeface="Aptos"/>
              </a:defRPr>
            </a:pPr>
            <a:r>
              <a:t>Build</a:t>
            </a:r>
          </a:p>
        </p:txBody>
      </p:sp>
      <p:sp>
        <p:nvSpPr>
          <p:cNvPr id="26" name="TextBox 25"/>
          <p:cNvSpPr txBox="1"/>
          <p:nvPr/>
        </p:nvSpPr>
        <p:spPr>
          <a:xfrm>
            <a:off x="6537960" y="3118104"/>
            <a:ext cx="292608" cy="228600"/>
          </a:xfrm>
          <a:prstGeom prst="rect">
            <a:avLst/>
          </a:prstGeom>
          <a:noFill/>
        </p:spPr>
        <p:txBody>
          <a:bodyPr wrap="square" lIns="36576" rIns="36576" tIns="36576" bIns="36576" anchor="t">
            <a:spAutoFit/>
          </a:bodyPr>
          <a:lstStyle/>
          <a:p>
            <a:pPr algn="ctr">
              <a:defRPr sz="1400" b="1">
                <a:solidFill>
                  <a:srgbClr val="27B5C9"/>
                </a:solidFill>
                <a:latin typeface="Aptos"/>
              </a:defRPr>
            </a:pPr>
            <a:r>
              <a:t>→</a:t>
            </a:r>
          </a:p>
        </p:txBody>
      </p:sp>
      <p:sp>
        <p:nvSpPr>
          <p:cNvPr id="27" name="Rounded Rectangle 26"/>
          <p:cNvSpPr/>
          <p:nvPr/>
        </p:nvSpPr>
        <p:spPr>
          <a:xfrm>
            <a:off x="6848856" y="2971800"/>
            <a:ext cx="1261872" cy="658368"/>
          </a:xfrm>
          <a:prstGeom prst="roundRect">
            <a:avLst/>
          </a:prstGeom>
          <a:solidFill>
            <a:srgbClr val="ECF6F9"/>
          </a:solidFill>
          <a:ln>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94576" y="3127248"/>
            <a:ext cx="1170432" cy="228600"/>
          </a:xfrm>
          <a:prstGeom prst="rect">
            <a:avLst/>
          </a:prstGeom>
          <a:noFill/>
        </p:spPr>
        <p:txBody>
          <a:bodyPr wrap="square" lIns="36576" rIns="36576" tIns="36576" bIns="36576" anchor="t">
            <a:spAutoFit/>
          </a:bodyPr>
          <a:lstStyle/>
          <a:p>
            <a:pPr algn="ctr">
              <a:defRPr sz="1100" b="1">
                <a:solidFill>
                  <a:srgbClr val="14263F"/>
                </a:solidFill>
                <a:latin typeface="Aptos"/>
              </a:defRPr>
            </a:pPr>
            <a:r>
              <a:t>Test</a:t>
            </a:r>
          </a:p>
        </p:txBody>
      </p:sp>
      <p:sp>
        <p:nvSpPr>
          <p:cNvPr id="29" name="TextBox 28"/>
          <p:cNvSpPr txBox="1"/>
          <p:nvPr/>
        </p:nvSpPr>
        <p:spPr>
          <a:xfrm>
            <a:off x="8110728" y="3118104"/>
            <a:ext cx="292608" cy="228600"/>
          </a:xfrm>
          <a:prstGeom prst="rect">
            <a:avLst/>
          </a:prstGeom>
          <a:noFill/>
        </p:spPr>
        <p:txBody>
          <a:bodyPr wrap="square" lIns="36576" rIns="36576" tIns="36576" bIns="36576" anchor="t">
            <a:spAutoFit/>
          </a:bodyPr>
          <a:lstStyle/>
          <a:p>
            <a:pPr algn="ctr">
              <a:defRPr sz="1400" b="1">
                <a:solidFill>
                  <a:srgbClr val="27B5C9"/>
                </a:solidFill>
                <a:latin typeface="Aptos"/>
              </a:defRPr>
            </a:pPr>
            <a:r>
              <a:t>→</a:t>
            </a:r>
          </a:p>
        </p:txBody>
      </p:sp>
      <p:sp>
        <p:nvSpPr>
          <p:cNvPr id="30" name="Rounded Rectangle 29"/>
          <p:cNvSpPr/>
          <p:nvPr/>
        </p:nvSpPr>
        <p:spPr>
          <a:xfrm>
            <a:off x="8421624" y="2971800"/>
            <a:ext cx="1261872" cy="658368"/>
          </a:xfrm>
          <a:prstGeom prst="roundRect">
            <a:avLst/>
          </a:prstGeom>
          <a:solidFill>
            <a:srgbClr val="ECF6F9"/>
          </a:solidFill>
          <a:ln>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67344" y="3127248"/>
            <a:ext cx="1170432" cy="228600"/>
          </a:xfrm>
          <a:prstGeom prst="rect">
            <a:avLst/>
          </a:prstGeom>
          <a:noFill/>
        </p:spPr>
        <p:txBody>
          <a:bodyPr wrap="square" lIns="36576" rIns="36576" tIns="36576" bIns="36576" anchor="t">
            <a:spAutoFit/>
          </a:bodyPr>
          <a:lstStyle/>
          <a:p>
            <a:pPr algn="ctr">
              <a:defRPr sz="1100" b="1">
                <a:solidFill>
                  <a:srgbClr val="14263F"/>
                </a:solidFill>
                <a:latin typeface="Aptos"/>
              </a:defRPr>
            </a:pPr>
            <a:r>
              <a:t>Review</a:t>
            </a:r>
          </a:p>
        </p:txBody>
      </p:sp>
      <p:sp>
        <p:nvSpPr>
          <p:cNvPr id="32" name="TextBox 31"/>
          <p:cNvSpPr txBox="1"/>
          <p:nvPr/>
        </p:nvSpPr>
        <p:spPr>
          <a:xfrm>
            <a:off x="9683496" y="3118104"/>
            <a:ext cx="292608" cy="228600"/>
          </a:xfrm>
          <a:prstGeom prst="rect">
            <a:avLst/>
          </a:prstGeom>
          <a:noFill/>
        </p:spPr>
        <p:txBody>
          <a:bodyPr wrap="square" lIns="36576" rIns="36576" tIns="36576" bIns="36576" anchor="t">
            <a:spAutoFit/>
          </a:bodyPr>
          <a:lstStyle/>
          <a:p>
            <a:pPr algn="ctr">
              <a:defRPr sz="1400" b="1">
                <a:solidFill>
                  <a:srgbClr val="27B5C9"/>
                </a:solidFill>
                <a:latin typeface="Aptos"/>
              </a:defRPr>
            </a:pPr>
            <a:r>
              <a:t>→</a:t>
            </a:r>
          </a:p>
        </p:txBody>
      </p:sp>
      <p:sp>
        <p:nvSpPr>
          <p:cNvPr id="33" name="Rounded Rectangle 32"/>
          <p:cNvSpPr/>
          <p:nvPr/>
        </p:nvSpPr>
        <p:spPr>
          <a:xfrm>
            <a:off x="9994392" y="2971800"/>
            <a:ext cx="1261872" cy="658368"/>
          </a:xfrm>
          <a:prstGeom prst="roundRect">
            <a:avLst/>
          </a:prstGeom>
          <a:solidFill>
            <a:srgbClr val="ECF6F9"/>
          </a:solidFill>
          <a:ln>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40112" y="3127248"/>
            <a:ext cx="1170432" cy="228600"/>
          </a:xfrm>
          <a:prstGeom prst="rect">
            <a:avLst/>
          </a:prstGeom>
          <a:noFill/>
        </p:spPr>
        <p:txBody>
          <a:bodyPr wrap="square" lIns="36576" rIns="36576" tIns="36576" bIns="36576" anchor="t">
            <a:spAutoFit/>
          </a:bodyPr>
          <a:lstStyle/>
          <a:p>
            <a:pPr algn="ctr">
              <a:defRPr sz="1100" b="1">
                <a:solidFill>
                  <a:srgbClr val="14263F"/>
                </a:solidFill>
                <a:latin typeface="Aptos"/>
              </a:defRPr>
            </a:pPr>
            <a:r>
              <a:t>Improve</a:t>
            </a:r>
          </a:p>
        </p:txBody>
      </p:sp>
      <p:sp>
        <p:nvSpPr>
          <p:cNvPr id="35" name="TextBox 34"/>
          <p:cNvSpPr txBox="1"/>
          <p:nvPr/>
        </p:nvSpPr>
        <p:spPr>
          <a:xfrm>
            <a:off x="3703320" y="4160520"/>
            <a:ext cx="7315200" cy="914400"/>
          </a:xfrm>
          <a:prstGeom prst="rect">
            <a:avLst/>
          </a:prstGeom>
          <a:noFill/>
        </p:spPr>
        <p:txBody>
          <a:bodyPr wrap="square" lIns="36576" rIns="36576" tIns="36576" bIns="36576" anchor="t">
            <a:spAutoFit/>
          </a:bodyPr>
          <a:lstStyle/>
          <a:p>
            <a:pPr algn="l">
              <a:defRPr sz="1400" b="0">
                <a:solidFill>
                  <a:srgbClr val="2D3A48"/>
                </a:solidFill>
                <a:latin typeface="Aptos"/>
              </a:defRPr>
            </a:pPr>
            <a:r>
              <a:t>Each sprint delivers a tested, reviewable increment and incorporates stakeholder feedback before the next iteration.</a:t>
            </a:r>
          </a:p>
        </p:txBody>
      </p:sp>
      <p:sp>
        <p:nvSpPr>
          <p:cNvPr id="36" name="TextBox 35"/>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MODULE ARCHITECTURE</a:t>
            </a:r>
          </a:p>
        </p:txBody>
      </p:sp>
      <p:sp>
        <p:nvSpPr>
          <p:cNvPr id="5" name="TextBox 4"/>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03 / 08</a:t>
            </a:r>
          </a:p>
        </p:txBody>
      </p:sp>
      <p:pic>
        <p:nvPicPr>
          <p:cNvPr id="6" name="Picture 5" descr="image.png"/>
          <p:cNvPicPr>
            <a:picLocks noChangeAspect="1"/>
          </p:cNvPicPr>
          <p:nvPr/>
        </p:nvPicPr>
        <p:blipFill>
          <a:blip r:embed="rId2"/>
          <a:stretch>
            <a:fillRect/>
          </a:stretch>
        </p:blipFill>
        <p:spPr>
          <a:xfrm>
            <a:off x="658368" y="1234440"/>
            <a:ext cx="10881360" cy="5074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500">
                <a:solidFill>
                  <a:srgbClr val="14263F"/>
                </a:solidFill>
                <a:latin typeface="Aptos Display"/>
              </a:defRPr>
            </a:pPr>
            <a:r>
              <a:t>FOUNDATION &amp; PROJECT MANAGEMENT</a:t>
            </a:r>
          </a:p>
        </p:txBody>
      </p:sp>
      <p:sp>
        <p:nvSpPr>
          <p:cNvPr id="5" name="TextBox 4"/>
          <p:cNvSpPr txBox="1"/>
          <p:nvPr/>
        </p:nvSpPr>
        <p:spPr>
          <a:xfrm>
            <a:off x="685800" y="987552"/>
            <a:ext cx="10698480" cy="347472"/>
          </a:xfrm>
          <a:prstGeom prst="rect">
            <a:avLst/>
          </a:prstGeom>
          <a:noFill/>
        </p:spPr>
        <p:txBody>
          <a:bodyPr wrap="none">
            <a:spAutoFit/>
          </a:bodyPr>
          <a:lstStyle/>
          <a:p>
            <a:pPr>
              <a:defRPr sz="1200">
                <a:solidFill>
                  <a:srgbClr val="647180"/>
                </a:solidFill>
                <a:latin typeface="Aptos"/>
              </a:defRPr>
            </a:pPr>
            <a:r>
              <a:t>Sprint 1 (Weeks 1-2)</a:t>
            </a:r>
          </a:p>
        </p:txBody>
      </p:sp>
      <p:sp>
        <p:nvSpPr>
          <p:cNvPr id="6" name="Rounded Rectangle 5"/>
          <p:cNvSpPr/>
          <p:nvPr/>
        </p:nvSpPr>
        <p:spPr>
          <a:xfrm>
            <a:off x="685800" y="1417320"/>
            <a:ext cx="52578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3619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Objective</a:t>
            </a:r>
          </a:p>
        </p:txBody>
      </p:sp>
      <p:sp>
        <p:nvSpPr>
          <p:cNvPr id="9" name="TextBox 8"/>
          <p:cNvSpPr txBox="1"/>
          <p:nvPr/>
        </p:nvSpPr>
        <p:spPr>
          <a:xfrm>
            <a:off x="850392" y="1947672"/>
            <a:ext cx="4983480" cy="795528"/>
          </a:xfrm>
          <a:prstGeom prst="rect">
            <a:avLst/>
          </a:prstGeom>
          <a:noFill/>
        </p:spPr>
        <p:txBody>
          <a:bodyPr wrap="square" lIns="36576" rIns="36576" tIns="36576" bIns="36576" anchor="t">
            <a:spAutoFit/>
          </a:bodyPr>
          <a:lstStyle/>
          <a:p>
            <a:pPr algn="l">
              <a:defRPr sz="1200" b="0">
                <a:solidFill>
                  <a:srgbClr val="2D3A48"/>
                </a:solidFill>
                <a:latin typeface="Aptos"/>
              </a:defRPr>
            </a:pPr>
            <a:r>
              <a:t>Build the foundation of the platform by implementing user management, authentication, and project planning capabilities.</a:t>
            </a:r>
          </a:p>
        </p:txBody>
      </p:sp>
      <p:sp>
        <p:nvSpPr>
          <p:cNvPr id="10" name="Rounded Rectangle 9"/>
          <p:cNvSpPr/>
          <p:nvPr/>
        </p:nvSpPr>
        <p:spPr>
          <a:xfrm>
            <a:off x="685800" y="3063240"/>
            <a:ext cx="5257800" cy="26974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063240"/>
            <a:ext cx="64008" cy="26974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18211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Modules</a:t>
            </a:r>
          </a:p>
        </p:txBody>
      </p:sp>
      <p:sp>
        <p:nvSpPr>
          <p:cNvPr id="13" name="TextBox 12"/>
          <p:cNvSpPr txBox="1"/>
          <p:nvPr/>
        </p:nvSpPr>
        <p:spPr>
          <a:xfrm>
            <a:off x="932688" y="3639312"/>
            <a:ext cx="4709160" cy="1920240"/>
          </a:xfrm>
          <a:prstGeom prst="rect">
            <a:avLst/>
          </a:prstGeom>
          <a:noFill/>
        </p:spPr>
        <p:txBody>
          <a:bodyPr wrap="square" lIns="36576" rIns="36576" tIns="27432" bIns="27432">
            <a:spAutoFit/>
          </a:bodyPr>
          <a:lstStyle/>
          <a:p>
            <a:pPr>
              <a:spcAft>
                <a:spcPts val="400"/>
              </a:spcAft>
              <a:defRPr sz="1300">
                <a:solidFill>
                  <a:srgbClr val="2D3A48"/>
                </a:solidFill>
                <a:latin typeface="Aptos"/>
              </a:defRPr>
            </a:pPr>
            <a:r>
              <a:t>• User Authentication &amp; Login</a:t>
            </a:r>
          </a:p>
          <a:p>
            <a:pPr>
              <a:spcAft>
                <a:spcPts val="400"/>
              </a:spcAft>
              <a:defRPr sz="1300">
                <a:solidFill>
                  <a:srgbClr val="2D3A48"/>
                </a:solidFill>
                <a:latin typeface="Aptos"/>
              </a:defRPr>
            </a:pPr>
            <a:r>
              <a:t>• Role-Based Access Control (RBAC)</a:t>
            </a:r>
          </a:p>
          <a:p>
            <a:pPr>
              <a:spcAft>
                <a:spcPts val="400"/>
              </a:spcAft>
              <a:defRPr sz="1300">
                <a:solidFill>
                  <a:srgbClr val="2D3A48"/>
                </a:solidFill>
                <a:latin typeface="Aptos"/>
              </a:defRPr>
            </a:pPr>
            <a:r>
              <a:t>• User Management</a:t>
            </a:r>
          </a:p>
          <a:p>
            <a:pPr>
              <a:spcAft>
                <a:spcPts val="400"/>
              </a:spcAft>
              <a:defRPr sz="1300">
                <a:solidFill>
                  <a:srgbClr val="2D3A48"/>
                </a:solidFill>
                <a:latin typeface="Aptos"/>
              </a:defRPr>
            </a:pPr>
            <a:r>
              <a:t>• Requirement Management</a:t>
            </a:r>
          </a:p>
          <a:p>
            <a:pPr>
              <a:spcAft>
                <a:spcPts val="400"/>
              </a:spcAft>
              <a:defRPr sz="1300">
                <a:solidFill>
                  <a:srgbClr val="2D3A48"/>
                </a:solidFill>
                <a:latin typeface="Aptos"/>
              </a:defRPr>
            </a:pPr>
            <a:r>
              <a:t>• Project &amp; Sprint Planning</a:t>
            </a:r>
          </a:p>
        </p:txBody>
      </p:sp>
      <p:sp>
        <p:nvSpPr>
          <p:cNvPr id="14" name="Rounded Rectangle 13"/>
          <p:cNvSpPr/>
          <p:nvPr/>
        </p:nvSpPr>
        <p:spPr>
          <a:xfrm>
            <a:off x="6172200" y="1417320"/>
            <a:ext cx="530352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417320"/>
            <a:ext cx="64008" cy="43434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1536192"/>
            <a:ext cx="504748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Deliverables</a:t>
            </a:r>
          </a:p>
        </p:txBody>
      </p:sp>
      <p:sp>
        <p:nvSpPr>
          <p:cNvPr id="17" name="TextBox 16"/>
          <p:cNvSpPr txBox="1"/>
          <p:nvPr/>
        </p:nvSpPr>
        <p:spPr>
          <a:xfrm>
            <a:off x="6419088" y="1993392"/>
            <a:ext cx="4709160" cy="3383280"/>
          </a:xfrm>
          <a:prstGeom prst="rect">
            <a:avLst/>
          </a:prstGeom>
          <a:noFill/>
        </p:spPr>
        <p:txBody>
          <a:bodyPr wrap="square" lIns="36576" rIns="36576" tIns="27432" bIns="27432">
            <a:spAutoFit/>
          </a:bodyPr>
          <a:lstStyle/>
          <a:p>
            <a:pPr>
              <a:spcAft>
                <a:spcPts val="600"/>
              </a:spcAft>
              <a:defRPr sz="1300">
                <a:solidFill>
                  <a:srgbClr val="2D3A48"/>
                </a:solidFill>
                <a:latin typeface="Aptos"/>
              </a:defRPr>
            </a:pPr>
            <a:r>
              <a:t>• Secure user registration and login</a:t>
            </a:r>
          </a:p>
          <a:p>
            <a:pPr>
              <a:spcAft>
                <a:spcPts val="600"/>
              </a:spcAft>
              <a:defRPr sz="1300">
                <a:solidFill>
                  <a:srgbClr val="2D3A48"/>
                </a:solidFill>
                <a:latin typeface="Aptos"/>
              </a:defRPr>
            </a:pPr>
            <a:r>
              <a:t>• Different user roles (Admin, Manager, Developer, Tester, etc.)</a:t>
            </a:r>
          </a:p>
          <a:p>
            <a:pPr>
              <a:spcAft>
                <a:spcPts val="600"/>
              </a:spcAft>
              <a:defRPr sz="1300">
                <a:solidFill>
                  <a:srgbClr val="2D3A48"/>
                </a:solidFill>
                <a:latin typeface="Aptos"/>
              </a:defRPr>
            </a:pPr>
            <a:r>
              <a:t>• Project creation and configuration</a:t>
            </a:r>
          </a:p>
          <a:p>
            <a:pPr>
              <a:spcAft>
                <a:spcPts val="600"/>
              </a:spcAft>
              <a:defRPr sz="1300">
                <a:solidFill>
                  <a:srgbClr val="2D3A48"/>
                </a:solidFill>
                <a:latin typeface="Aptos"/>
              </a:defRPr>
            </a:pPr>
            <a:r>
              <a:t>• Requirement collection and management</a:t>
            </a:r>
          </a:p>
          <a:p>
            <a:pPr>
              <a:spcAft>
                <a:spcPts val="600"/>
              </a:spcAft>
              <a:defRPr sz="1300">
                <a:solidFill>
                  <a:srgbClr val="2D3A48"/>
                </a:solidFill>
                <a:latin typeface="Aptos"/>
              </a:defRPr>
            </a:pPr>
            <a:r>
              <a:t>• Sprint and task creation</a:t>
            </a:r>
          </a:p>
        </p:txBody>
      </p:sp>
      <p:sp>
        <p:nvSpPr>
          <p:cNvPr id="18" name="TextBox 17"/>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500">
                <a:solidFill>
                  <a:srgbClr val="14263F"/>
                </a:solidFill>
                <a:latin typeface="Aptos Display"/>
              </a:defRPr>
            </a:pPr>
            <a:r>
              <a:t>DEVELOPMENT &amp; COLLABORATION</a:t>
            </a:r>
          </a:p>
        </p:txBody>
      </p:sp>
      <p:sp>
        <p:nvSpPr>
          <p:cNvPr id="5" name="TextBox 4"/>
          <p:cNvSpPr txBox="1"/>
          <p:nvPr/>
        </p:nvSpPr>
        <p:spPr>
          <a:xfrm>
            <a:off x="685800" y="987552"/>
            <a:ext cx="10698480" cy="347472"/>
          </a:xfrm>
          <a:prstGeom prst="rect">
            <a:avLst/>
          </a:prstGeom>
          <a:noFill/>
        </p:spPr>
        <p:txBody>
          <a:bodyPr wrap="none">
            <a:spAutoFit/>
          </a:bodyPr>
          <a:lstStyle/>
          <a:p>
            <a:pPr>
              <a:defRPr sz="1200">
                <a:solidFill>
                  <a:srgbClr val="647180"/>
                </a:solidFill>
                <a:latin typeface="Aptos"/>
              </a:defRPr>
            </a:pPr>
            <a:r>
              <a:t>Sprint 2 (Weeks 3-4)</a:t>
            </a:r>
          </a:p>
        </p:txBody>
      </p:sp>
      <p:sp>
        <p:nvSpPr>
          <p:cNvPr id="6" name="Rounded Rectangle 5"/>
          <p:cNvSpPr/>
          <p:nvPr/>
        </p:nvSpPr>
        <p:spPr>
          <a:xfrm>
            <a:off x="685800" y="1417320"/>
            <a:ext cx="52578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3619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Objective</a:t>
            </a:r>
          </a:p>
        </p:txBody>
      </p:sp>
      <p:sp>
        <p:nvSpPr>
          <p:cNvPr id="9" name="TextBox 8"/>
          <p:cNvSpPr txBox="1"/>
          <p:nvPr/>
        </p:nvSpPr>
        <p:spPr>
          <a:xfrm>
            <a:off x="850392" y="1947672"/>
            <a:ext cx="4983480" cy="795528"/>
          </a:xfrm>
          <a:prstGeom prst="rect">
            <a:avLst/>
          </a:prstGeom>
          <a:noFill/>
        </p:spPr>
        <p:txBody>
          <a:bodyPr wrap="square" lIns="36576" rIns="36576" tIns="36576" bIns="36576" anchor="t">
            <a:spAutoFit/>
          </a:bodyPr>
          <a:lstStyle/>
          <a:p>
            <a:pPr algn="l">
              <a:defRPr sz="1200" b="0">
                <a:solidFill>
                  <a:srgbClr val="2D3A48"/>
                </a:solidFill>
                <a:latin typeface="Aptos"/>
              </a:defRPr>
            </a:pPr>
            <a:r>
              <a:t>Develop modules that improve collaboration and assist developers during software development.</a:t>
            </a:r>
          </a:p>
        </p:txBody>
      </p:sp>
      <p:sp>
        <p:nvSpPr>
          <p:cNvPr id="10" name="Rounded Rectangle 9"/>
          <p:cNvSpPr/>
          <p:nvPr/>
        </p:nvSpPr>
        <p:spPr>
          <a:xfrm>
            <a:off x="685800" y="3063240"/>
            <a:ext cx="5257800" cy="26974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063240"/>
            <a:ext cx="64008" cy="26974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18211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Modules</a:t>
            </a:r>
          </a:p>
        </p:txBody>
      </p:sp>
      <p:sp>
        <p:nvSpPr>
          <p:cNvPr id="13" name="TextBox 12"/>
          <p:cNvSpPr txBox="1"/>
          <p:nvPr/>
        </p:nvSpPr>
        <p:spPr>
          <a:xfrm>
            <a:off x="932688" y="3639312"/>
            <a:ext cx="4709160" cy="1920240"/>
          </a:xfrm>
          <a:prstGeom prst="rect">
            <a:avLst/>
          </a:prstGeom>
          <a:noFill/>
        </p:spPr>
        <p:txBody>
          <a:bodyPr wrap="square" lIns="36576" rIns="36576" tIns="27432" bIns="27432">
            <a:spAutoFit/>
          </a:bodyPr>
          <a:lstStyle/>
          <a:p>
            <a:pPr>
              <a:spcAft>
                <a:spcPts val="400"/>
              </a:spcAft>
              <a:defRPr sz="1300">
                <a:solidFill>
                  <a:srgbClr val="2D3A48"/>
                </a:solidFill>
                <a:latin typeface="Aptos"/>
              </a:defRPr>
            </a:pPr>
            <a:r>
              <a:t>• Task Assignment &amp; Sprint Management</a:t>
            </a:r>
          </a:p>
          <a:p>
            <a:pPr>
              <a:spcAft>
                <a:spcPts val="400"/>
              </a:spcAft>
              <a:defRPr sz="1300">
                <a:solidFill>
                  <a:srgbClr val="2D3A48"/>
                </a:solidFill>
                <a:latin typeface="Aptos"/>
              </a:defRPr>
            </a:pPr>
            <a:r>
              <a:t>• AI-Powered Code Generation</a:t>
            </a:r>
          </a:p>
          <a:p>
            <a:pPr>
              <a:spcAft>
                <a:spcPts val="400"/>
              </a:spcAft>
              <a:defRPr sz="1300">
                <a:solidFill>
                  <a:srgbClr val="2D3A48"/>
                </a:solidFill>
                <a:latin typeface="Aptos"/>
              </a:defRPr>
            </a:pPr>
            <a:r>
              <a:t>• Documentation Management</a:t>
            </a:r>
          </a:p>
          <a:p>
            <a:pPr>
              <a:spcAft>
                <a:spcPts val="400"/>
              </a:spcAft>
              <a:defRPr sz="1300">
                <a:solidFill>
                  <a:srgbClr val="2D3A48"/>
                </a:solidFill>
                <a:latin typeface="Aptos"/>
              </a:defRPr>
            </a:pPr>
            <a:r>
              <a:t>• Git Integration &amp; Version Control</a:t>
            </a:r>
          </a:p>
          <a:p>
            <a:pPr>
              <a:spcAft>
                <a:spcPts val="400"/>
              </a:spcAft>
              <a:defRPr sz="1300">
                <a:solidFill>
                  <a:srgbClr val="2D3A48"/>
                </a:solidFill>
                <a:latin typeface="Aptos"/>
              </a:defRPr>
            </a:pPr>
            <a:r>
              <a:t>• Team Collaboration</a:t>
            </a:r>
          </a:p>
        </p:txBody>
      </p:sp>
      <p:sp>
        <p:nvSpPr>
          <p:cNvPr id="14" name="Rounded Rectangle 13"/>
          <p:cNvSpPr/>
          <p:nvPr/>
        </p:nvSpPr>
        <p:spPr>
          <a:xfrm>
            <a:off x="6172200" y="1417320"/>
            <a:ext cx="530352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417320"/>
            <a:ext cx="64008" cy="43434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1536192"/>
            <a:ext cx="504748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Deliverables</a:t>
            </a:r>
          </a:p>
        </p:txBody>
      </p:sp>
      <p:sp>
        <p:nvSpPr>
          <p:cNvPr id="17" name="TextBox 16"/>
          <p:cNvSpPr txBox="1"/>
          <p:nvPr/>
        </p:nvSpPr>
        <p:spPr>
          <a:xfrm>
            <a:off x="6419088" y="1993392"/>
            <a:ext cx="4709160" cy="3383280"/>
          </a:xfrm>
          <a:prstGeom prst="rect">
            <a:avLst/>
          </a:prstGeom>
          <a:noFill/>
        </p:spPr>
        <p:txBody>
          <a:bodyPr wrap="square" lIns="36576" rIns="36576" tIns="27432" bIns="27432">
            <a:spAutoFit/>
          </a:bodyPr>
          <a:lstStyle/>
          <a:p>
            <a:pPr>
              <a:spcAft>
                <a:spcPts val="600"/>
              </a:spcAft>
              <a:defRPr sz="1300">
                <a:solidFill>
                  <a:srgbClr val="2D3A48"/>
                </a:solidFill>
                <a:latin typeface="Aptos"/>
              </a:defRPr>
            </a:pPr>
            <a:r>
              <a:t>• Assign and track development tasks</a:t>
            </a:r>
          </a:p>
          <a:p>
            <a:pPr>
              <a:spcAft>
                <a:spcPts val="600"/>
              </a:spcAft>
              <a:defRPr sz="1300">
                <a:solidFill>
                  <a:srgbClr val="2D3A48"/>
                </a:solidFill>
                <a:latin typeface="Aptos"/>
              </a:defRPr>
            </a:pPr>
            <a:r>
              <a:t>• AI-assisted code generation</a:t>
            </a:r>
          </a:p>
          <a:p>
            <a:pPr>
              <a:spcAft>
                <a:spcPts val="600"/>
              </a:spcAft>
              <a:defRPr sz="1300">
                <a:solidFill>
                  <a:srgbClr val="2D3A48"/>
                </a:solidFill>
                <a:latin typeface="Aptos"/>
              </a:defRPr>
            </a:pPr>
            <a:r>
              <a:t>• Automatic technical documentation</a:t>
            </a:r>
          </a:p>
          <a:p>
            <a:pPr>
              <a:spcAft>
                <a:spcPts val="600"/>
              </a:spcAft>
              <a:defRPr sz="1300">
                <a:solidFill>
                  <a:srgbClr val="2D3A48"/>
                </a:solidFill>
                <a:latin typeface="Aptos"/>
              </a:defRPr>
            </a:pPr>
            <a:r>
              <a:t>• Git repository integration</a:t>
            </a:r>
          </a:p>
          <a:p>
            <a:pPr>
              <a:spcAft>
                <a:spcPts val="600"/>
              </a:spcAft>
              <a:defRPr sz="1300">
                <a:solidFill>
                  <a:srgbClr val="2D3A48"/>
                </a:solidFill>
                <a:latin typeface="Aptos"/>
              </a:defRPr>
            </a:pPr>
            <a:r>
              <a:t>• Team notifications and collaboration features</a:t>
            </a:r>
          </a:p>
        </p:txBody>
      </p:sp>
      <p:sp>
        <p:nvSpPr>
          <p:cNvPr id="18" name="TextBox 17"/>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500">
                <a:solidFill>
                  <a:srgbClr val="14263F"/>
                </a:solidFill>
                <a:latin typeface="Aptos Display"/>
              </a:defRPr>
            </a:pPr>
            <a:r>
              <a:t>TESTING &amp; DEVOPS</a:t>
            </a:r>
          </a:p>
        </p:txBody>
      </p:sp>
      <p:sp>
        <p:nvSpPr>
          <p:cNvPr id="5" name="TextBox 4"/>
          <p:cNvSpPr txBox="1"/>
          <p:nvPr/>
        </p:nvSpPr>
        <p:spPr>
          <a:xfrm>
            <a:off x="685800" y="987552"/>
            <a:ext cx="10698480" cy="347472"/>
          </a:xfrm>
          <a:prstGeom prst="rect">
            <a:avLst/>
          </a:prstGeom>
          <a:noFill/>
        </p:spPr>
        <p:txBody>
          <a:bodyPr wrap="none">
            <a:spAutoFit/>
          </a:bodyPr>
          <a:lstStyle/>
          <a:p>
            <a:pPr>
              <a:defRPr sz="1200">
                <a:solidFill>
                  <a:srgbClr val="647180"/>
                </a:solidFill>
                <a:latin typeface="Aptos"/>
              </a:defRPr>
            </a:pPr>
            <a:r>
              <a:t>Sprint 3 (Weeks 5-6)</a:t>
            </a:r>
          </a:p>
        </p:txBody>
      </p:sp>
      <p:sp>
        <p:nvSpPr>
          <p:cNvPr id="6" name="Rounded Rectangle 5"/>
          <p:cNvSpPr/>
          <p:nvPr/>
        </p:nvSpPr>
        <p:spPr>
          <a:xfrm>
            <a:off x="685800" y="1417320"/>
            <a:ext cx="52578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3619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Objective</a:t>
            </a:r>
          </a:p>
        </p:txBody>
      </p:sp>
      <p:sp>
        <p:nvSpPr>
          <p:cNvPr id="9" name="TextBox 8"/>
          <p:cNvSpPr txBox="1"/>
          <p:nvPr/>
        </p:nvSpPr>
        <p:spPr>
          <a:xfrm>
            <a:off x="850392" y="1947672"/>
            <a:ext cx="4983480" cy="795528"/>
          </a:xfrm>
          <a:prstGeom prst="rect">
            <a:avLst/>
          </a:prstGeom>
          <a:noFill/>
        </p:spPr>
        <p:txBody>
          <a:bodyPr wrap="square" lIns="36576" rIns="36576" tIns="36576" bIns="36576" anchor="t">
            <a:spAutoFit/>
          </a:bodyPr>
          <a:lstStyle/>
          <a:p>
            <a:pPr algn="l">
              <a:defRPr sz="1200" b="0">
                <a:solidFill>
                  <a:srgbClr val="2D3A48"/>
                </a:solidFill>
                <a:latin typeface="Aptos"/>
              </a:defRPr>
            </a:pPr>
            <a:r>
              <a:t>Implement quality assurance and DevOps capabilities to automate testing and software deployment.</a:t>
            </a:r>
          </a:p>
        </p:txBody>
      </p:sp>
      <p:sp>
        <p:nvSpPr>
          <p:cNvPr id="10" name="Rounded Rectangle 9"/>
          <p:cNvSpPr/>
          <p:nvPr/>
        </p:nvSpPr>
        <p:spPr>
          <a:xfrm>
            <a:off x="685800" y="3063240"/>
            <a:ext cx="5257800" cy="26974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063240"/>
            <a:ext cx="64008" cy="26974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18211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Modules</a:t>
            </a:r>
          </a:p>
        </p:txBody>
      </p:sp>
      <p:sp>
        <p:nvSpPr>
          <p:cNvPr id="13" name="TextBox 12"/>
          <p:cNvSpPr txBox="1"/>
          <p:nvPr/>
        </p:nvSpPr>
        <p:spPr>
          <a:xfrm>
            <a:off x="932688" y="3639312"/>
            <a:ext cx="4709160" cy="1920240"/>
          </a:xfrm>
          <a:prstGeom prst="rect">
            <a:avLst/>
          </a:prstGeom>
          <a:noFill/>
        </p:spPr>
        <p:txBody>
          <a:bodyPr wrap="square" lIns="36576" rIns="36576" tIns="27432" bIns="27432">
            <a:spAutoFit/>
          </a:bodyPr>
          <a:lstStyle/>
          <a:p>
            <a:pPr>
              <a:spcAft>
                <a:spcPts val="400"/>
              </a:spcAft>
              <a:defRPr sz="1300">
                <a:solidFill>
                  <a:srgbClr val="2D3A48"/>
                </a:solidFill>
                <a:latin typeface="Aptos"/>
              </a:defRPr>
            </a:pPr>
            <a:r>
              <a:t>• Automated Testing</a:t>
            </a:r>
          </a:p>
          <a:p>
            <a:pPr>
              <a:spcAft>
                <a:spcPts val="400"/>
              </a:spcAft>
              <a:defRPr sz="1300">
                <a:solidFill>
                  <a:srgbClr val="2D3A48"/>
                </a:solidFill>
                <a:latin typeface="Aptos"/>
              </a:defRPr>
            </a:pPr>
            <a:r>
              <a:t>• Bug Tracking</a:t>
            </a:r>
          </a:p>
          <a:p>
            <a:pPr>
              <a:spcAft>
                <a:spcPts val="400"/>
              </a:spcAft>
              <a:defRPr sz="1300">
                <a:solidFill>
                  <a:srgbClr val="2D3A48"/>
                </a:solidFill>
                <a:latin typeface="Aptos"/>
              </a:defRPr>
            </a:pPr>
            <a:r>
              <a:t>• Code Review</a:t>
            </a:r>
          </a:p>
          <a:p>
            <a:pPr>
              <a:spcAft>
                <a:spcPts val="400"/>
              </a:spcAft>
              <a:defRPr sz="1300">
                <a:solidFill>
                  <a:srgbClr val="2D3A48"/>
                </a:solidFill>
                <a:latin typeface="Aptos"/>
              </a:defRPr>
            </a:pPr>
            <a:r>
              <a:t>• CI/CD Pipeline</a:t>
            </a:r>
          </a:p>
          <a:p>
            <a:pPr>
              <a:spcAft>
                <a:spcPts val="400"/>
              </a:spcAft>
              <a:defRPr sz="1300">
                <a:solidFill>
                  <a:srgbClr val="2D3A48"/>
                </a:solidFill>
                <a:latin typeface="Aptos"/>
              </a:defRPr>
            </a:pPr>
            <a:r>
              <a:t>• Deployment Module</a:t>
            </a:r>
          </a:p>
        </p:txBody>
      </p:sp>
      <p:sp>
        <p:nvSpPr>
          <p:cNvPr id="14" name="Rounded Rectangle 13"/>
          <p:cNvSpPr/>
          <p:nvPr/>
        </p:nvSpPr>
        <p:spPr>
          <a:xfrm>
            <a:off x="6172200" y="1417320"/>
            <a:ext cx="530352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417320"/>
            <a:ext cx="64008" cy="43434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1536192"/>
            <a:ext cx="504748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Deliverables</a:t>
            </a:r>
          </a:p>
        </p:txBody>
      </p:sp>
      <p:sp>
        <p:nvSpPr>
          <p:cNvPr id="17" name="TextBox 16"/>
          <p:cNvSpPr txBox="1"/>
          <p:nvPr/>
        </p:nvSpPr>
        <p:spPr>
          <a:xfrm>
            <a:off x="6419088" y="1993392"/>
            <a:ext cx="4709160" cy="3383280"/>
          </a:xfrm>
          <a:prstGeom prst="rect">
            <a:avLst/>
          </a:prstGeom>
          <a:noFill/>
        </p:spPr>
        <p:txBody>
          <a:bodyPr wrap="square" lIns="36576" rIns="36576" tIns="27432" bIns="27432">
            <a:spAutoFit/>
          </a:bodyPr>
          <a:lstStyle/>
          <a:p>
            <a:pPr>
              <a:spcAft>
                <a:spcPts val="600"/>
              </a:spcAft>
              <a:defRPr sz="1300">
                <a:solidFill>
                  <a:srgbClr val="2D3A48"/>
                </a:solidFill>
                <a:latin typeface="Aptos"/>
              </a:defRPr>
            </a:pPr>
            <a:r>
              <a:t>• Automated unit and integration testing</a:t>
            </a:r>
          </a:p>
          <a:p>
            <a:pPr>
              <a:spcAft>
                <a:spcPts val="600"/>
              </a:spcAft>
              <a:defRPr sz="1300">
                <a:solidFill>
                  <a:srgbClr val="2D3A48"/>
                </a:solidFill>
                <a:latin typeface="Aptos"/>
              </a:defRPr>
            </a:pPr>
            <a:r>
              <a:t>• Bug reporting and issue management</a:t>
            </a:r>
          </a:p>
          <a:p>
            <a:pPr>
              <a:spcAft>
                <a:spcPts val="600"/>
              </a:spcAft>
              <a:defRPr sz="1300">
                <a:solidFill>
                  <a:srgbClr val="2D3A48"/>
                </a:solidFill>
                <a:latin typeface="Aptos"/>
              </a:defRPr>
            </a:pPr>
            <a:r>
              <a:t>• AI-assisted code quality analysis</a:t>
            </a:r>
          </a:p>
          <a:p>
            <a:pPr>
              <a:spcAft>
                <a:spcPts val="600"/>
              </a:spcAft>
              <a:defRPr sz="1300">
                <a:solidFill>
                  <a:srgbClr val="2D3A48"/>
                </a:solidFill>
                <a:latin typeface="Aptos"/>
              </a:defRPr>
            </a:pPr>
            <a:r>
              <a:t>• Continuous Integration and Continuous Deployment</a:t>
            </a:r>
          </a:p>
          <a:p>
            <a:pPr>
              <a:spcAft>
                <a:spcPts val="600"/>
              </a:spcAft>
              <a:defRPr sz="1300">
                <a:solidFill>
                  <a:srgbClr val="2D3A48"/>
                </a:solidFill>
                <a:latin typeface="Aptos"/>
              </a:defRPr>
            </a:pPr>
            <a:r>
              <a:t>• Automated software deployment</a:t>
            </a:r>
          </a:p>
        </p:txBody>
      </p:sp>
      <p:sp>
        <p:nvSpPr>
          <p:cNvPr id="18" name="TextBox 17"/>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200">
                <a:solidFill>
                  <a:srgbClr val="14263F"/>
                </a:solidFill>
                <a:latin typeface="Aptos Display"/>
              </a:defRPr>
            </a:pPr>
            <a:r>
              <a:t>MONITORING, ANALYTICS &amp; FINAL DEPLOYMENT</a:t>
            </a:r>
          </a:p>
        </p:txBody>
      </p:sp>
      <p:sp>
        <p:nvSpPr>
          <p:cNvPr id="5" name="TextBox 4"/>
          <p:cNvSpPr txBox="1"/>
          <p:nvPr/>
        </p:nvSpPr>
        <p:spPr>
          <a:xfrm>
            <a:off x="685800" y="987552"/>
            <a:ext cx="10698480" cy="347472"/>
          </a:xfrm>
          <a:prstGeom prst="rect">
            <a:avLst/>
          </a:prstGeom>
          <a:noFill/>
        </p:spPr>
        <p:txBody>
          <a:bodyPr wrap="none">
            <a:spAutoFit/>
          </a:bodyPr>
          <a:lstStyle/>
          <a:p>
            <a:pPr>
              <a:defRPr sz="1200">
                <a:solidFill>
                  <a:srgbClr val="647180"/>
                </a:solidFill>
                <a:latin typeface="Aptos"/>
              </a:defRPr>
            </a:pPr>
            <a:r>
              <a:t>Sprint 4 (Weeks 7-8)</a:t>
            </a:r>
          </a:p>
        </p:txBody>
      </p:sp>
      <p:sp>
        <p:nvSpPr>
          <p:cNvPr id="6" name="Rounded Rectangle 5"/>
          <p:cNvSpPr/>
          <p:nvPr/>
        </p:nvSpPr>
        <p:spPr>
          <a:xfrm>
            <a:off x="685800" y="1417320"/>
            <a:ext cx="525780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41732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3619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Objective</a:t>
            </a:r>
          </a:p>
        </p:txBody>
      </p:sp>
      <p:sp>
        <p:nvSpPr>
          <p:cNvPr id="9" name="TextBox 8"/>
          <p:cNvSpPr txBox="1"/>
          <p:nvPr/>
        </p:nvSpPr>
        <p:spPr>
          <a:xfrm>
            <a:off x="850392" y="1947672"/>
            <a:ext cx="4983480" cy="795528"/>
          </a:xfrm>
          <a:prstGeom prst="rect">
            <a:avLst/>
          </a:prstGeom>
          <a:noFill/>
        </p:spPr>
        <p:txBody>
          <a:bodyPr wrap="square" lIns="36576" rIns="36576" tIns="36576" bIns="36576" anchor="t">
            <a:spAutoFit/>
          </a:bodyPr>
          <a:lstStyle/>
          <a:p>
            <a:pPr algn="l">
              <a:defRPr sz="1200" b="0">
                <a:solidFill>
                  <a:srgbClr val="2D3A48"/>
                </a:solidFill>
                <a:latin typeface="Aptos"/>
              </a:defRPr>
            </a:pPr>
            <a:r>
              <a:t>Complete the platform by implementing monitoring, analytics, reporting, and maintenance features before final deployment.</a:t>
            </a:r>
          </a:p>
        </p:txBody>
      </p:sp>
      <p:sp>
        <p:nvSpPr>
          <p:cNvPr id="10" name="Rounded Rectangle 9"/>
          <p:cNvSpPr/>
          <p:nvPr/>
        </p:nvSpPr>
        <p:spPr>
          <a:xfrm>
            <a:off x="685800" y="3063240"/>
            <a:ext cx="5257800" cy="26974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063240"/>
            <a:ext cx="64008" cy="26974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3182112"/>
            <a:ext cx="500176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Modules</a:t>
            </a:r>
          </a:p>
        </p:txBody>
      </p:sp>
      <p:sp>
        <p:nvSpPr>
          <p:cNvPr id="13" name="TextBox 12"/>
          <p:cNvSpPr txBox="1"/>
          <p:nvPr/>
        </p:nvSpPr>
        <p:spPr>
          <a:xfrm>
            <a:off x="932688" y="3639312"/>
            <a:ext cx="4709160" cy="1920240"/>
          </a:xfrm>
          <a:prstGeom prst="rect">
            <a:avLst/>
          </a:prstGeom>
          <a:noFill/>
        </p:spPr>
        <p:txBody>
          <a:bodyPr wrap="square" lIns="36576" rIns="36576" tIns="27432" bIns="27432">
            <a:spAutoFit/>
          </a:bodyPr>
          <a:lstStyle/>
          <a:p>
            <a:pPr>
              <a:spcAft>
                <a:spcPts val="400"/>
              </a:spcAft>
              <a:defRPr sz="1300">
                <a:solidFill>
                  <a:srgbClr val="2D3A48"/>
                </a:solidFill>
                <a:latin typeface="Aptos"/>
              </a:defRPr>
            </a:pPr>
            <a:r>
              <a:t>• Real-Time Dashboard</a:t>
            </a:r>
          </a:p>
          <a:p>
            <a:pPr>
              <a:spcAft>
                <a:spcPts val="400"/>
              </a:spcAft>
              <a:defRPr sz="1300">
                <a:solidFill>
                  <a:srgbClr val="2D3A48"/>
                </a:solidFill>
                <a:latin typeface="Aptos"/>
              </a:defRPr>
            </a:pPr>
            <a:r>
              <a:t>• Performance Monitoring</a:t>
            </a:r>
          </a:p>
          <a:p>
            <a:pPr>
              <a:spcAft>
                <a:spcPts val="400"/>
              </a:spcAft>
              <a:defRPr sz="1300">
                <a:solidFill>
                  <a:srgbClr val="2D3A48"/>
                </a:solidFill>
                <a:latin typeface="Aptos"/>
              </a:defRPr>
            </a:pPr>
            <a:r>
              <a:t>• Reporting &amp; Analytics</a:t>
            </a:r>
          </a:p>
          <a:p>
            <a:pPr>
              <a:spcAft>
                <a:spcPts val="400"/>
              </a:spcAft>
              <a:defRPr sz="1300">
                <a:solidFill>
                  <a:srgbClr val="2D3A48"/>
                </a:solidFill>
                <a:latin typeface="Aptos"/>
              </a:defRPr>
            </a:pPr>
            <a:r>
              <a:t>• Maintenance Module</a:t>
            </a:r>
          </a:p>
          <a:p>
            <a:pPr>
              <a:spcAft>
                <a:spcPts val="400"/>
              </a:spcAft>
              <a:defRPr sz="1300">
                <a:solidFill>
                  <a:srgbClr val="2D3A48"/>
                </a:solidFill>
                <a:latin typeface="Aptos"/>
              </a:defRPr>
            </a:pPr>
            <a:r>
              <a:t>• Final System Integration</a:t>
            </a:r>
          </a:p>
        </p:txBody>
      </p:sp>
      <p:sp>
        <p:nvSpPr>
          <p:cNvPr id="14" name="Rounded Rectangle 13"/>
          <p:cNvSpPr/>
          <p:nvPr/>
        </p:nvSpPr>
        <p:spPr>
          <a:xfrm>
            <a:off x="6172200" y="1417320"/>
            <a:ext cx="530352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417320"/>
            <a:ext cx="64008" cy="43434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1536192"/>
            <a:ext cx="504748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Deliverables</a:t>
            </a:r>
          </a:p>
        </p:txBody>
      </p:sp>
      <p:sp>
        <p:nvSpPr>
          <p:cNvPr id="17" name="TextBox 16"/>
          <p:cNvSpPr txBox="1"/>
          <p:nvPr/>
        </p:nvSpPr>
        <p:spPr>
          <a:xfrm>
            <a:off x="6419088" y="1993392"/>
            <a:ext cx="4709160" cy="3383280"/>
          </a:xfrm>
          <a:prstGeom prst="rect">
            <a:avLst/>
          </a:prstGeom>
          <a:noFill/>
        </p:spPr>
        <p:txBody>
          <a:bodyPr wrap="square" lIns="36576" rIns="36576" tIns="27432" bIns="27432">
            <a:spAutoFit/>
          </a:bodyPr>
          <a:lstStyle/>
          <a:p>
            <a:pPr>
              <a:spcAft>
                <a:spcPts val="600"/>
              </a:spcAft>
              <a:defRPr sz="1300">
                <a:solidFill>
                  <a:srgbClr val="2D3A48"/>
                </a:solidFill>
                <a:latin typeface="Aptos"/>
              </a:defRPr>
            </a:pPr>
            <a:r>
              <a:t>• Live project monitoring dashboard</a:t>
            </a:r>
          </a:p>
          <a:p>
            <a:pPr>
              <a:spcAft>
                <a:spcPts val="600"/>
              </a:spcAft>
              <a:defRPr sz="1300">
                <a:solidFill>
                  <a:srgbClr val="2D3A48"/>
                </a:solidFill>
                <a:latin typeface="Aptos"/>
              </a:defRPr>
            </a:pPr>
            <a:r>
              <a:t>• Performance and resource monitoring</a:t>
            </a:r>
          </a:p>
          <a:p>
            <a:pPr>
              <a:spcAft>
                <a:spcPts val="600"/>
              </a:spcAft>
              <a:defRPr sz="1300">
                <a:solidFill>
                  <a:srgbClr val="2D3A48"/>
                </a:solidFill>
                <a:latin typeface="Aptos"/>
              </a:defRPr>
            </a:pPr>
            <a:r>
              <a:t>• Project and productivity reports</a:t>
            </a:r>
          </a:p>
          <a:p>
            <a:pPr>
              <a:spcAft>
                <a:spcPts val="600"/>
              </a:spcAft>
              <a:defRPr sz="1300">
                <a:solidFill>
                  <a:srgbClr val="2D3A48"/>
                </a:solidFill>
                <a:latin typeface="Aptos"/>
              </a:defRPr>
            </a:pPr>
            <a:r>
              <a:t>• System maintenance and update support</a:t>
            </a:r>
          </a:p>
          <a:p>
            <a:pPr>
              <a:spcAft>
                <a:spcPts val="600"/>
              </a:spcAft>
              <a:defRPr sz="1300">
                <a:solidFill>
                  <a:srgbClr val="2D3A48"/>
                </a:solidFill>
                <a:latin typeface="Aptos"/>
              </a:defRPr>
            </a:pPr>
            <a:r>
              <a:t>• Final integration, User Acceptance Testing (UAT), and production deployment</a:t>
            </a:r>
          </a:p>
        </p:txBody>
      </p:sp>
      <p:sp>
        <p:nvSpPr>
          <p:cNvPr id="18" name="TextBox 17"/>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31720"/>
            <a:ext cx="10515600" cy="731520"/>
          </a:xfrm>
          <a:prstGeom prst="rect">
            <a:avLst/>
          </a:prstGeom>
          <a:noFill/>
        </p:spPr>
        <p:txBody>
          <a:bodyPr wrap="square" lIns="36576" rIns="36576" tIns="36576" bIns="36576" anchor="t">
            <a:spAutoFit/>
          </a:bodyPr>
          <a:lstStyle/>
          <a:p>
            <a:pPr algn="ctr">
              <a:defRPr sz="4200" b="1">
                <a:solidFill>
                  <a:srgbClr val="14263F"/>
                </a:solidFill>
                <a:latin typeface="Aptos"/>
              </a:defRPr>
            </a:pPr>
            <a:r>
              <a:t>THANK YOU!</a:t>
            </a:r>
          </a:p>
        </p:txBody>
      </p:sp>
      <p:sp>
        <p:nvSpPr>
          <p:cNvPr id="5" name="TextBox 4"/>
          <p:cNvSpPr txBox="1"/>
          <p:nvPr/>
        </p:nvSpPr>
        <p:spPr>
          <a:xfrm>
            <a:off x="2011680" y="3154680"/>
            <a:ext cx="8138160" cy="365760"/>
          </a:xfrm>
          <a:prstGeom prst="rect">
            <a:avLst/>
          </a:prstGeom>
          <a:noFill/>
        </p:spPr>
        <p:txBody>
          <a:bodyPr wrap="square" lIns="36576" rIns="36576" tIns="36576" bIns="36576" anchor="t">
            <a:spAutoFit/>
          </a:bodyPr>
          <a:lstStyle/>
          <a:p>
            <a:pPr algn="ctr">
              <a:defRPr sz="1600" b="1">
                <a:solidFill>
                  <a:srgbClr val="238F97"/>
                </a:solidFill>
                <a:latin typeface="Aptos"/>
              </a:defRPr>
            </a:pPr>
            <a:r>
              <a:t>NeuroForge Enterprise SDLC Platform</a:t>
            </a:r>
          </a:p>
        </p:txBody>
      </p:sp>
      <p:sp>
        <p:nvSpPr>
          <p:cNvPr id="6" name="TextBox 5"/>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